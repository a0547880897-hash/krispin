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863840" y="1828800"/>
            <a:ext cx="3840480" cy="50800"/>
          </a:xfrm>
          <a:prstGeom prst="rect">
            <a:avLst/>
          </a:prstGeom>
          <a:solidFill>
            <a:srgbClr val="E9B9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11064240" cy="23774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rtl="1" algn="r"/>
            <a:r>
              <a:rPr sz="4000" b="1" i="0">
                <a:solidFill>
                  <a:srgbClr val="FFFFFF"/>
                </a:solidFill>
                <a:latin typeface="Arial"/>
              </a:rPr>
              <a:t>עו"ד יוסי דרור — כונס נכסים
טענות חייבים, פסיקה ודפוסים חוזרים</a:t>
            </a:r>
          </a:p>
          <a:p>
            <a:pPr rtl="1" algn="r">
              <a:spcBef>
                <a:spcPts val="1000"/>
              </a:spcBef>
            </a:pPr>
            <a:r>
              <a:rPr sz="1800" b="0" i="0">
                <a:solidFill>
                  <a:srgbClr val="9FB0C3"/>
                </a:solidFill>
                <a:latin typeface="Arial"/>
              </a:rPr>
              <a:t>בידוד טענות שהועלו נגדו בהליכים • הבחנה בין טענה לקביעה שיפוטית • הדגשת הערות שופטים</a:t>
            </a:r>
          </a:p>
          <a:p>
            <a:pPr rtl="1" algn="r">
              <a:spcBef>
                <a:spcPts val="1400"/>
              </a:spcBef>
            </a:pPr>
            <a:r>
              <a:rPr sz="1400" b="1" i="0">
                <a:solidFill>
                  <a:srgbClr val="E9B949"/>
                </a:solidFill>
                <a:latin typeface="Arial"/>
              </a:rPr>
              <a:t>היקף 1996–2026 • ~40 הליכים • הוכן יוני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8686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rtl="1" algn="r"/>
            <a:r>
              <a:rPr sz="2600" b="1" i="0">
                <a:solidFill>
                  <a:srgbClr val="FFFFFF"/>
                </a:solidFill>
                <a:latin typeface="Arial"/>
              </a:rPr>
              <a:t>⚠️ אזהרה מתודולוגית — חובה לקרוא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78992"/>
            <a:ext cx="11247120" cy="25400"/>
          </a:xfrm>
          <a:prstGeom prst="rect">
            <a:avLst/>
          </a:prstGeom>
          <a:solidFill>
            <a:srgbClr val="334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01400" cy="53035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rtl="1" algn="r">
              <a:spcAft>
                <a:spcPts val="300"/>
              </a:spcAft>
            </a:pPr>
            <a:r>
              <a:rPr sz="1300" b="1" i="0">
                <a:solidFill>
                  <a:srgbClr val="F0A92B"/>
                </a:solidFill>
                <a:latin typeface="Arial"/>
              </a:rPr>
              <a:t>［טענה = מה שצד טען (לא ראיה)］</a:t>
            </a:r>
            <a:r>
              <a:rPr sz="1300" b="0" i="0">
                <a:solidFill>
                  <a:srgbClr val="9FB0C3"/>
                </a:solidFill>
                <a:latin typeface="Arial"/>
              </a:rPr>
              <a:t>   </a:t>
            </a:r>
            <a:r>
              <a:rPr sz="1300" b="1" i="0">
                <a:solidFill>
                  <a:srgbClr val="B07CF0"/>
                </a:solidFill>
                <a:latin typeface="Arial"/>
              </a:rPr>
              <a:t>［קביעה = מה שביהמ"ש פסק］</a:t>
            </a:r>
          </a:p>
          <a:p>
            <a:pPr rtl="1" algn="r">
              <a:spcAft>
                <a:spcPts val="300"/>
              </a:spcAft>
            </a:pPr>
            <a:r>
              <a:rPr sz="1500" b="0" i="0">
                <a:solidFill>
                  <a:srgbClr val="EEF2F7"/>
                </a:solidFill>
                <a:latin typeface="Arial"/>
              </a:rPr>
              <a:t>זוהי ההבחנה החשובה ביותר במסמך, והיא תחזור בכל שקופית.</a:t>
            </a:r>
          </a:p>
          <a:p>
            <a:pPr rtl="1" algn="r">
              <a:spcBef>
                <a:spcPts val="800"/>
              </a:spcBef>
              <a:spcAft>
                <a:spcPts val="200"/>
              </a:spcAft>
            </a:pPr>
            <a:r>
              <a:rPr sz="1700" b="1" i="0">
                <a:solidFill>
                  <a:srgbClr val="E9B949"/>
                </a:solidFill>
                <a:latin typeface="Arial"/>
              </a:rPr>
              <a:t>השורה התחתונה החוזרת</a:t>
            </a:r>
          </a:p>
          <a:p>
            <a:pPr rtl="1" algn="r">
              <a:spcAft>
                <a:spcPts val="300"/>
              </a:spcAft>
            </a:pPr>
            <a:r>
              <a:rPr sz="1500" b="0" i="0">
                <a:solidFill>
                  <a:srgbClr val="EEF2F7"/>
                </a:solidFill>
                <a:latin typeface="Arial"/>
              </a:rPr>
              <a:t>כמעט כל טענה חמורה נגד דרור נדחתה, הסתיימה בפשרה, נפסלה כראיה, או לא הוכרעה. מוצג ביושר כדי שתדע מה מבוסס ומה ניתן לסתירה.</a:t>
            </a:r>
          </a:p>
          <a:p>
            <a:pPr rtl="1" algn="r">
              <a:spcBef>
                <a:spcPts val="800"/>
              </a:spcBef>
              <a:spcAft>
                <a:spcPts val="200"/>
              </a:spcAft>
            </a:pPr>
            <a:r>
              <a:rPr sz="1700" b="1" i="0">
                <a:solidFill>
                  <a:srgbClr val="E9B949"/>
                </a:solidFill>
                <a:latin typeface="Arial"/>
              </a:rPr>
              <a:t>מקורות ומגבלות</a:t>
            </a:r>
          </a:p>
          <a:p>
            <a:pPr rtl="1" algn="r">
              <a:spcAft>
                <a:spcPts val="300"/>
              </a:spcAft>
            </a:pPr>
            <a:r>
              <a:rPr sz="1500" b="0" i="0">
                <a:solidFill>
                  <a:srgbClr val="EEF2F7"/>
                </a:solidFill>
                <a:latin typeface="Arial"/>
              </a:rPr>
              <a:t>תקדין-לייט (עמוד ראשון), judgments.org.il, פסקדין, אתר העליון, מרשם החברות, לשכת עוה"ד. נבו/תקדין מלא/נט-המשפט/רשומות — בתשלום/חסומים (מסומן).</a:t>
            </a:r>
          </a:p>
          <a:p>
            <a:pPr rtl="1" algn="r">
              <a:spcBef>
                <a:spcPts val="800"/>
              </a:spcBef>
              <a:spcAft>
                <a:spcPts val="200"/>
              </a:spcAft>
            </a:pPr>
            <a:r>
              <a:rPr sz="1700" b="1" i="0">
                <a:solidFill>
                  <a:srgbClr val="E9B949"/>
                </a:solidFill>
                <a:latin typeface="Arial"/>
              </a:rPr>
              <a:t>זיהוי</a:t>
            </a:r>
          </a:p>
          <a:p>
            <a:pPr rtl="1" algn="r">
              <a:spcAft>
                <a:spcPts val="300"/>
              </a:spcAft>
            </a:pPr>
            <a:r>
              <a:rPr sz="1300" b="1" i="0">
                <a:solidFill>
                  <a:srgbClr val="43C08A"/>
                </a:solidFill>
                <a:latin typeface="Arial"/>
              </a:rPr>
              <a:t>［ודאות גבוהה］</a:t>
            </a:r>
            <a:r>
              <a:rPr sz="1300" b="0" i="0">
                <a:solidFill>
                  <a:srgbClr val="9FB0C3"/>
                </a:solidFill>
                <a:latin typeface="Arial"/>
              </a:rPr>
              <a:t>   </a:t>
            </a:r>
            <a:r>
              <a:rPr sz="1300" b="1" i="0">
                <a:solidFill>
                  <a:srgbClr val="F0A92B"/>
                </a:solidFill>
                <a:latin typeface="Arial"/>
              </a:rPr>
              <a:t>［בינונית］</a:t>
            </a:r>
            <a:r>
              <a:rPr sz="1300" b="0" i="0">
                <a:solidFill>
                  <a:srgbClr val="9FB0C3"/>
                </a:solidFill>
                <a:latin typeface="Arial"/>
              </a:rPr>
              <a:t>   </a:t>
            </a:r>
            <a:r>
              <a:rPr sz="1300" b="1" i="0">
                <a:solidFill>
                  <a:srgbClr val="EF5B6B"/>
                </a:solidFill>
                <a:latin typeface="Arial"/>
              </a:rPr>
              <a:t>［נמוכה］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8686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rtl="1" algn="r"/>
            <a:r>
              <a:rPr sz="2600" b="1" i="0">
                <a:solidFill>
                  <a:srgbClr val="FFFFFF"/>
                </a:solidFill>
                <a:latin typeface="Arial"/>
              </a:rPr>
              <a:t>תג זיהוי — מי הוא עו"ד יוסי דרור  ［ודאות גבוהה］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78992"/>
            <a:ext cx="11247120" cy="25400"/>
          </a:xfrm>
          <a:prstGeom prst="rect">
            <a:avLst/>
          </a:prstGeom>
          <a:solidFill>
            <a:srgbClr val="334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01400" cy="53035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rtl="1" algn="r">
              <a:spcBef>
                <a:spcPts val="800"/>
              </a:spcBef>
              <a:spcAft>
                <a:spcPts val="200"/>
              </a:spcAft>
            </a:pPr>
            <a:r>
              <a:rPr sz="1700" b="1" i="0">
                <a:solidFill>
                  <a:srgbClr val="E9B949"/>
                </a:solidFill>
                <a:latin typeface="Arial"/>
              </a:rPr>
              <a:t>מזהים פומביים</a:t>
            </a:r>
          </a:p>
          <a:p>
            <a:pPr rtl="1" algn="r">
              <a:spcAft>
                <a:spcPts val="300"/>
              </a:spcAft>
            </a:pPr>
            <a:r>
              <a:rPr sz="1500" b="0" i="0">
                <a:solidFill>
                  <a:srgbClr val="EEF2F7"/>
                </a:solidFill>
                <a:latin typeface="Arial"/>
              </a:rPr>
              <a:t>•  חבר לשכת עוה"ד משנת 1995 (לפי פרופיל המשרד).</a:t>
            </a:r>
          </a:p>
          <a:p>
            <a:pPr rtl="1" algn="r">
              <a:spcAft>
                <a:spcPts val="300"/>
              </a:spcAft>
            </a:pPr>
            <a:r>
              <a:rPr sz="1500" b="0" i="0">
                <a:solidFill>
                  <a:srgbClr val="EEF2F7"/>
                </a:solidFill>
                <a:latin typeface="Arial"/>
              </a:rPr>
              <a:t>•  משרד בני ברק: כנרת/מצדה 5, מגדלי ב.ס.ר 3, קומה 20 • טל' 03-6967020 / 03-9107111.</a:t>
            </a:r>
          </a:p>
          <a:p>
            <a:pPr rtl="1" algn="r">
              <a:spcAft>
                <a:spcPts val="300"/>
              </a:spcAft>
            </a:pPr>
            <a:r>
              <a:rPr sz="1500" b="0" i="0">
                <a:solidFill>
                  <a:srgbClr val="EEF2F7"/>
                </a:solidFill>
                <a:latin typeface="Arial"/>
              </a:rPr>
              <a:t>•  "יוסי דרור, חברת עורכי-דין" — ח.פ 514804871 (2012). במרשם הלשכה — "יוסי דרור" יחיד.</a:t>
            </a:r>
          </a:p>
          <a:p>
            <a:pPr rtl="1" algn="r">
              <a:spcBef>
                <a:spcPts val="800"/>
              </a:spcBef>
              <a:spcAft>
                <a:spcPts val="200"/>
              </a:spcAft>
            </a:pPr>
            <a:r>
              <a:rPr sz="1700" b="1" i="0">
                <a:solidFill>
                  <a:srgbClr val="E9B949"/>
                </a:solidFill>
                <a:latin typeface="Arial"/>
              </a:rPr>
              <a:t>תחום ולקוחות</a:t>
            </a:r>
          </a:p>
          <a:p>
            <a:pPr rtl="1" algn="r">
              <a:spcAft>
                <a:spcPts val="300"/>
              </a:spcAft>
            </a:pPr>
            <a:r>
              <a:rPr sz="1500" b="0" i="0">
                <a:solidFill>
                  <a:srgbClr val="EEF2F7"/>
                </a:solidFill>
                <a:latin typeface="Arial"/>
              </a:rPr>
              <a:t>•  פעיל בכינוסי נכסים "החל משנת 2000".</a:t>
            </a:r>
          </a:p>
          <a:p>
            <a:pPr rtl="1" algn="r">
              <a:spcAft>
                <a:spcPts val="300"/>
              </a:spcAft>
            </a:pPr>
            <a:r>
              <a:rPr sz="1500" b="0" i="0">
                <a:solidFill>
                  <a:srgbClr val="EEF2F7"/>
                </a:solidFill>
                <a:latin typeface="Arial"/>
              </a:rPr>
              <a:t>•  לקוחות מוצהרים: בנק לאומי — מערך המשכנתאות ואגף חוב"ב; בנק דיסקונט; עיריית אילת.</a:t>
            </a:r>
          </a:p>
          <a:p>
            <a:pPr rtl="1" algn="r">
              <a:spcAft>
                <a:spcPts val="300"/>
              </a:spcAft>
            </a:pPr>
            <a:r>
              <a:rPr sz="1500" b="0" i="0">
                <a:solidFill>
                  <a:srgbClr val="EEF2F7"/>
                </a:solidFill>
                <a:latin typeface="Arial"/>
              </a:rPr>
              <a:t>•  כיום בעמוד הצוות של "דב שילנסקי ושות'" (yossi@shilansky.co.il).</a:t>
            </a:r>
          </a:p>
          <a:p>
            <a:pPr rtl="1" algn="r">
              <a:spcBef>
                <a:spcPts val="800"/>
              </a:spcBef>
              <a:spcAft>
                <a:spcPts val="200"/>
              </a:spcAft>
            </a:pPr>
            <a:r>
              <a:rPr sz="1700" b="1" i="0">
                <a:solidFill>
                  <a:srgbClr val="E9B949"/>
                </a:solidFill>
                <a:latin typeface="Arial"/>
              </a:rPr>
              <a:t>הצלבה</a:t>
            </a:r>
          </a:p>
          <a:p>
            <a:pPr rtl="1" algn="r">
              <a:spcAft>
                <a:spcPts val="300"/>
              </a:spcAft>
            </a:pPr>
            <a:r>
              <a:rPr sz="1500" b="0" i="0">
                <a:solidFill>
                  <a:srgbClr val="EEF2F7"/>
                </a:solidFill>
                <a:latin typeface="Arial"/>
              </a:rPr>
              <a:t>בכמעט כל תיק הוא כונס/ב"כ של בנק לאומי למשכנתאות — הלקוח המוצהר. שם+תפקיד+בנק = אותו אדם. (ת"ז היא מידע פרטי — לא נכלל.)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8686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rtl="1" algn="r"/>
            <a:r>
              <a:rPr sz="2600" b="1" i="0">
                <a:solidFill>
                  <a:srgbClr val="FFFFFF"/>
                </a:solidFill>
                <a:latin typeface="Arial"/>
              </a:rPr>
              <a:t>בני-שם שסוננו (כדי לא לייחס בטעות)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78992"/>
            <a:ext cx="11247120" cy="25400"/>
          </a:xfrm>
          <a:prstGeom prst="rect">
            <a:avLst/>
          </a:prstGeom>
          <a:solidFill>
            <a:srgbClr val="334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01400" cy="53035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rtl="1" algn="r">
              <a:spcAft>
                <a:spcPts val="300"/>
              </a:spcAft>
            </a:pPr>
            <a:r>
              <a:rPr sz="1500" b="0" i="0">
                <a:solidFill>
                  <a:srgbClr val="EEF2F7"/>
                </a:solidFill>
                <a:latin typeface="Arial"/>
              </a:rPr>
              <a:t>•  עו"ד יוסף דרור, רמת השרון (dror-law.com) — מקרקעין/תעבורה. עיר ותחום אחרים.</a:t>
            </a:r>
          </a:p>
          <a:p>
            <a:pPr rtl="1" algn="r">
              <a:spcAft>
                <a:spcPts val="300"/>
              </a:spcAft>
            </a:pPr>
            <a:r>
              <a:rPr sz="1500" b="0" i="0">
                <a:solidFill>
                  <a:srgbClr val="EEF2F7"/>
                </a:solidFill>
                <a:latin typeface="Arial"/>
              </a:rPr>
              <a:t>•  עו"ד יוסי בן-דרור, הרצליה — שם משפחה אחר.</a:t>
            </a:r>
          </a:p>
          <a:p>
            <a:pPr rtl="1" algn="r">
              <a:spcAft>
                <a:spcPts val="300"/>
              </a:spcAft>
            </a:pPr>
            <a:r>
              <a:rPr sz="1500" b="0" i="0">
                <a:solidFill>
                  <a:srgbClr val="EEF2F7"/>
                </a:solidFill>
                <a:latin typeface="Arial"/>
              </a:rPr>
              <a:t>•  "דרור סדן" / "דוד דרור" (ע"א 2161/11) — שמות בעלי-דין בפסקים אחרים.</a:t>
            </a:r>
          </a:p>
          <a:p>
            <a:pPr rtl="1" algn="r">
              <a:spcAft>
                <a:spcPts val="300"/>
              </a:spcAft>
            </a:pPr>
            <a:r>
              <a:rPr sz="1500" b="0" i="0">
                <a:solidFill>
                  <a:srgbClr val="EEF2F7"/>
                </a:solidFill>
                <a:latin typeface="Arial"/>
              </a:rPr>
              <a:t>•  עו"ד יוסי דרור — ב"כ עיריית אילת בחלק מהתיקים: ייתכן אדם שונה (סומן "בינוני").</a:t>
            </a:r>
          </a:p>
          <a:p>
            <a:pPr rtl="1" algn="r">
              <a:spcAft>
                <a:spcPts val="300"/>
              </a:spcAft>
            </a:pPr>
            <a:r>
              <a:rPr sz="1500" b="0" i="0">
                <a:solidFill>
                  <a:srgbClr val="EEF2F7"/>
                </a:solidFill>
                <a:latin typeface="Arial"/>
              </a:rPr>
              <a:t>•  מאמן קריפטו / מנכ"ל Aetrex / אקדמאי — לא עורכי דין.</a:t>
            </a:r>
          </a:p>
          <a:p>
            <a:pPr rtl="1" algn="r"/>
            <a:r>
              <a:rPr sz="600" b="0" i="0">
                <a:solidFill>
                  <a:srgbClr val="EEF2F7"/>
                </a:solidFill>
                <a:latin typeface="Arial"/>
              </a:rPr>
              <a:t> </a:t>
            </a:r>
          </a:p>
          <a:p>
            <a:pPr rtl="1" algn="r">
              <a:spcAft>
                <a:spcPts val="300"/>
              </a:spcAft>
            </a:pPr>
            <a:r>
              <a:rPr sz="1300" b="1" i="0">
                <a:solidFill>
                  <a:srgbClr val="43C08A"/>
                </a:solidFill>
                <a:latin typeface="Arial"/>
              </a:rPr>
              <a:t>［סריקת 597 מזהי תיקים אישרה שאף בן-שם לא יוחס לדרור הכונס］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8686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rtl="1" algn="r"/>
            <a:r>
              <a:rPr sz="2600" b="1" i="0">
                <a:solidFill>
                  <a:srgbClr val="FFFFFF"/>
                </a:solidFill>
                <a:latin typeface="Arial"/>
              </a:rPr>
              <a:t>בונוביל — ע"א 4162/04  ［זיהוי נמוך-בינוני］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78992"/>
            <a:ext cx="11247120" cy="25400"/>
          </a:xfrm>
          <a:prstGeom prst="rect">
            <a:avLst/>
          </a:prstGeom>
          <a:solidFill>
            <a:srgbClr val="334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01400" cy="53035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rtl="1" algn="r">
              <a:spcAft>
                <a:spcPts val="400"/>
              </a:spcAft>
            </a:pPr>
            <a:r>
              <a:rPr sz="1200" b="0" i="1">
                <a:solidFill>
                  <a:srgbClr val="9FB0C3"/>
                </a:solidFill>
                <a:latin typeface="Arial"/>
              </a:rPr>
              <a:t>ע"א 4162/04 (עליון, גרוניס) • 10.8.2006 • מקור: פש"ר 51/96 (אלשיך)</a:t>
            </a:r>
          </a:p>
          <a:p>
            <a:pPr rtl="1" algn="r">
              <a:spcAft>
                <a:spcPts val="300"/>
              </a:spcAft>
            </a:pPr>
            <a:r>
              <a:rPr sz="1500" b="0" i="0">
                <a:solidFill>
                  <a:srgbClr val="EEF2F7"/>
                </a:solidFill>
                <a:latin typeface="Arial"/>
              </a:rPr>
              <a:t>נושא: תקדים על מתן רשות לתבוע כונס. צדדים: חברת בונוביל 1995 (ע"י מנהל מיוחד עו"ד אנושי) נ' עו"ד דרור (כונס זמני) + הבנק הבינלאומי.</a:t>
            </a:r>
          </a:p>
          <a:p>
            <a:pPr rtl="1" algn="r">
              <a:spcBef>
                <a:spcPts val="800"/>
              </a:spcBef>
              <a:spcAft>
                <a:spcPts val="200"/>
              </a:spcAft>
            </a:pPr>
            <a:r>
              <a:rPr sz="1700" b="1" i="0">
                <a:solidFill>
                  <a:srgbClr val="E9B949"/>
                </a:solidFill>
                <a:latin typeface="Arial"/>
              </a:rPr>
              <a:t>הטענה ［טענה – אנושי］</a:t>
            </a:r>
          </a:p>
          <a:p>
            <a:pPr rtl="1" algn="r">
              <a:spcBef>
                <a:spcPts val="200"/>
              </a:spcBef>
              <a:spcAft>
                <a:spcPts val="400"/>
              </a:spcAft>
            </a:pPr>
            <a:r>
              <a:rPr sz="1400" b="0" i="1">
                <a:solidFill>
                  <a:srgbClr val="4DB5E0"/>
                </a:solidFill>
                <a:latin typeface="Arial"/>
              </a:rPr>
              <a:t>„ הכונסים תפסו רכוש... ומכרו אותו בחוסר תום לב תוך התעלמות מטענות... באשר לבעלות... התמורה... פחותה במידה ניכרת משוויו. ”</a:t>
            </a:r>
          </a:p>
          <a:p>
            <a:pPr rtl="1" algn="r">
              <a:spcAft>
                <a:spcPts val="300"/>
              </a:spcAft>
            </a:pPr>
            <a:r>
              <a:rPr sz="1300" b="1" i="0">
                <a:solidFill>
                  <a:srgbClr val="F0A92B"/>
                </a:solidFill>
                <a:latin typeface="Arial"/>
              </a:rPr>
              <a:t>［חוסר תום לב］</a:t>
            </a:r>
            <a:r>
              <a:rPr sz="1300" b="0" i="0">
                <a:solidFill>
                  <a:srgbClr val="9FB0C3"/>
                </a:solidFill>
                <a:latin typeface="Arial"/>
              </a:rPr>
              <a:t>   </a:t>
            </a:r>
            <a:r>
              <a:rPr sz="1300" b="1" i="0">
                <a:solidFill>
                  <a:srgbClr val="F0A92B"/>
                </a:solidFill>
                <a:latin typeface="Arial"/>
              </a:rPr>
              <a:t>［מכירה בחסר］</a:t>
            </a:r>
            <a:r>
              <a:rPr sz="1300" b="0" i="0">
                <a:solidFill>
                  <a:srgbClr val="9FB0C3"/>
                </a:solidFill>
                <a:latin typeface="Arial"/>
              </a:rPr>
              <a:t>   </a:t>
            </a:r>
            <a:r>
              <a:rPr sz="1300" b="1" i="0">
                <a:solidFill>
                  <a:srgbClr val="F0A92B"/>
                </a:solidFill>
                <a:latin typeface="Arial"/>
              </a:rPr>
              <a:t>［הסתרה］</a:t>
            </a:r>
          </a:p>
          <a:p>
            <a:pPr rtl="1" algn="r">
              <a:spcBef>
                <a:spcPts val="800"/>
              </a:spcBef>
              <a:spcAft>
                <a:spcPts val="200"/>
              </a:spcAft>
            </a:pPr>
            <a:r>
              <a:rPr sz="1700" b="1" i="0">
                <a:solidFill>
                  <a:srgbClr val="E9B949"/>
                </a:solidFill>
                <a:latin typeface="Arial"/>
              </a:rPr>
              <a:t>הקביעה</a:t>
            </a:r>
          </a:p>
          <a:p>
            <a:pPr rtl="1" algn="r">
              <a:spcAft>
                <a:spcPts val="300"/>
              </a:spcAft>
            </a:pPr>
            <a:r>
              <a:rPr sz="1500" b="0" i="0">
                <a:solidFill>
                  <a:srgbClr val="EEF2F7"/>
                </a:solidFill>
                <a:latin typeface="Arial"/>
              </a:rPr>
              <a:t>רשות לתבוע נדחתה; שאלת חסינות-השחרור נותרה פתוחה. </a:t>
            </a:r>
            <a:r>
              <a:rPr sz="1500" b="1" i="0">
                <a:solidFill>
                  <a:srgbClr val="FFFFFF"/>
                </a:solidFill>
                <a:latin typeface="Arial"/>
              </a:rPr>
              <a:t>אין קביעת אשם.</a:t>
            </a:r>
          </a:p>
          <a:p>
            <a:pPr rtl="1" algn="r">
              <a:spcBef>
                <a:spcPts val="800"/>
              </a:spcBef>
              <a:spcAft>
                <a:spcPts val="200"/>
              </a:spcAft>
            </a:pPr>
            <a:r>
              <a:rPr sz="1700" b="1" i="0">
                <a:solidFill>
                  <a:srgbClr val="E9B949"/>
                </a:solidFill>
                <a:latin typeface="Arial"/>
              </a:rPr>
              <a:t>⚠️ ספק זיהוי</a:t>
            </a:r>
          </a:p>
          <a:p>
            <a:pPr rtl="1" algn="r">
              <a:spcAft>
                <a:spcPts val="300"/>
              </a:spcAft>
            </a:pPr>
            <a:r>
              <a:rPr sz="1500" b="0" i="0">
                <a:solidFill>
                  <a:srgbClr val="EEF2F7"/>
                </a:solidFill>
                <a:latin typeface="Arial"/>
              </a:rPr>
              <a:t>הנושה הוא הבנק הבינלאומי (לא לאומי), חדלות פירעון תאגידית (מלאי אופנה) — ייתכן דרור אחר. לא להציג כ"שלו" בוודאות.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8686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rtl="1" algn="r"/>
            <a:r>
              <a:rPr sz="2600" b="1" i="0">
                <a:solidFill>
                  <a:srgbClr val="FFFFFF"/>
                </a:solidFill>
                <a:latin typeface="Arial"/>
              </a:rPr>
              <a:t>★ בטיט — בר"ע (ב"ש) 503/04  ［זיהוי בינוני-גבוה］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78992"/>
            <a:ext cx="11247120" cy="25400"/>
          </a:xfrm>
          <a:prstGeom prst="rect">
            <a:avLst/>
          </a:prstGeom>
          <a:solidFill>
            <a:srgbClr val="334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01400" cy="53035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rtl="1" algn="r">
              <a:spcAft>
                <a:spcPts val="400"/>
              </a:spcAft>
            </a:pPr>
            <a:r>
              <a:rPr sz="1200" b="0" i="1">
                <a:solidFill>
                  <a:srgbClr val="9FB0C3"/>
                </a:solidFill>
                <a:latin typeface="Arial"/>
              </a:rPr>
              <a:t>בר"ע (ב"ש) 503/04 (הנדל) • 4.1.2005 • אילת</a:t>
            </a:r>
          </a:p>
          <a:p>
            <a:pPr rtl="1" algn="r">
              <a:spcAft>
                <a:spcPts val="300"/>
              </a:spcAft>
            </a:pPr>
            <a:r>
              <a:rPr sz="1500" b="0" i="0">
                <a:solidFill>
                  <a:srgbClr val="EEF2F7"/>
                </a:solidFill>
                <a:latin typeface="Arial"/>
              </a:rPr>
              <a:t>נושא: ערעור של דרור עצמו על ביטול מינויו והפחתת שכרו. צדדים: עו"ד יוסי דרור (כונס, מערער) נ' יוסף ונופר בטיט.</a:t>
            </a:r>
          </a:p>
          <a:p>
            <a:pPr rtl="1" algn="r">
              <a:spcBef>
                <a:spcPts val="800"/>
              </a:spcBef>
              <a:spcAft>
                <a:spcPts val="200"/>
              </a:spcAft>
            </a:pPr>
            <a:r>
              <a:rPr sz="1700" b="1" i="0">
                <a:solidFill>
                  <a:srgbClr val="E9B949"/>
                </a:solidFill>
                <a:latin typeface="Arial"/>
              </a:rPr>
              <a:t>★ הביקורת השיפוטית הממשית ביותר שנמצאה</a:t>
            </a:r>
          </a:p>
          <a:p>
            <a:pPr rtl="1" algn="r">
              <a:spcBef>
                <a:spcPts val="200"/>
              </a:spcBef>
              <a:spcAft>
                <a:spcPts val="400"/>
              </a:spcAft>
            </a:pPr>
            <a:r>
              <a:rPr sz="1400" b="0" i="1">
                <a:solidFill>
                  <a:srgbClr val="4DB5E0"/>
                </a:solidFill>
                <a:latin typeface="Arial"/>
              </a:rPr>
              <a:t>„ הכונס לא הכחיש כי לא עשה כל פעולה לקידום מכירת הנכס... מונה ככונס טרם נמסרו אזהרות לחייבים. ”</a:t>
            </a:r>
          </a:p>
          <a:p>
            <a:pPr rtl="1" algn="r">
              <a:spcAft>
                <a:spcPts val="300"/>
              </a:spcAft>
            </a:pPr>
            <a:r>
              <a:rPr sz="1500" b="0" i="0">
                <a:solidFill>
                  <a:srgbClr val="EEF2F7"/>
                </a:solidFill>
                <a:latin typeface="Arial"/>
              </a:rPr>
              <a:t>ביהמ"ש: שיקולי "חוסר פעילות" בעלי משקל; החזיר לקבוע שכר "אם בכלל"; ללא הוצאות כי דרור "החסיר נתונים".</a:t>
            </a:r>
          </a:p>
          <a:p>
            <a:pPr rtl="1" algn="r">
              <a:spcAft>
                <a:spcPts val="300"/>
              </a:spcAft>
            </a:pPr>
            <a:r>
              <a:rPr sz="1300" b="1" i="0">
                <a:solidFill>
                  <a:srgbClr val="B07CF0"/>
                </a:solidFill>
                <a:latin typeface="Arial"/>
              </a:rPr>
              <a:t>［★ הערת שופט: פסיביות］</a:t>
            </a:r>
            <a:r>
              <a:rPr sz="1300" b="0" i="0">
                <a:solidFill>
                  <a:srgbClr val="9FB0C3"/>
                </a:solidFill>
                <a:latin typeface="Arial"/>
              </a:rPr>
              <a:t>   </a:t>
            </a:r>
            <a:r>
              <a:rPr sz="1300" b="1" i="0">
                <a:solidFill>
                  <a:srgbClr val="F0A92B"/>
                </a:solidFill>
                <a:latin typeface="Arial"/>
              </a:rPr>
              <a:t>［שכר טרחה］</a:t>
            </a:r>
          </a:p>
          <a:p>
            <a:pPr rtl="1" algn="r">
              <a:spcAft>
                <a:spcPts val="300"/>
              </a:spcAft>
            </a:pPr>
            <a:r>
              <a:rPr sz="1500" b="0" i="0">
                <a:solidFill>
                  <a:srgbClr val="EEF2F7"/>
                </a:solidFill>
                <a:latin typeface="Arial"/>
              </a:rPr>
              <a:t>חשוב: ביקורת על חריצות ושכר — לא קביעת מרמה. ועדיין, ההערה השיפוטית הקרובה ביותר למבוקש.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8686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rtl="1" algn="r"/>
            <a:r>
              <a:rPr sz="2600" b="1" i="0">
                <a:solidFill>
                  <a:srgbClr val="FFFFFF"/>
                </a:solidFill>
                <a:latin typeface="Arial"/>
              </a:rPr>
              <a:t>פוירשטיין — רע"א 5892/07 + 8782/07  ［זיהוי גבוה］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78992"/>
            <a:ext cx="11247120" cy="25400"/>
          </a:xfrm>
          <a:prstGeom prst="rect">
            <a:avLst/>
          </a:prstGeom>
          <a:solidFill>
            <a:srgbClr val="334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01400" cy="53035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rtl="1" algn="r">
              <a:spcAft>
                <a:spcPts val="400"/>
              </a:spcAft>
            </a:pPr>
            <a:r>
              <a:rPr sz="1200" b="0" i="1">
                <a:solidFill>
                  <a:srgbClr val="9FB0C3"/>
                </a:solidFill>
                <a:latin typeface="Arial"/>
              </a:rPr>
              <a:t>רע"א 5892/07 (ג'ובראן, 8.7.2007) • רע"א 8782/07 (מלצר, 21.10.2007) • משק 46, מושב בצרה</a:t>
            </a:r>
          </a:p>
          <a:p>
            <a:pPr rtl="1" algn="r">
              <a:spcAft>
                <a:spcPts val="300"/>
              </a:spcAft>
            </a:pPr>
            <a:r>
              <a:rPr sz="1500" b="0" i="0">
                <a:solidFill>
                  <a:srgbClr val="EEF2F7"/>
                </a:solidFill>
                <a:latin typeface="Arial"/>
              </a:rPr>
              <a:t>צדדים: רפי/דב פוירשטיין נ' עו"ד יוסי דרור (כונס) + בנק לאומי למשכנתאות + משה+גרדה פוירשטיין.</a:t>
            </a:r>
          </a:p>
          <a:p>
            <a:pPr rtl="1" algn="r">
              <a:spcBef>
                <a:spcPts val="800"/>
              </a:spcBef>
              <a:spcAft>
                <a:spcPts val="200"/>
              </a:spcAft>
            </a:pPr>
            <a:r>
              <a:rPr sz="1700" b="1" i="0">
                <a:solidFill>
                  <a:srgbClr val="E9B949"/>
                </a:solidFill>
                <a:latin typeface="Arial"/>
              </a:rPr>
              <a:t>הטענות ［טענה – המבקש］</a:t>
            </a:r>
          </a:p>
          <a:p>
            <a:pPr rtl="1" algn="r">
              <a:spcAft>
                <a:spcPts val="300"/>
              </a:spcAft>
            </a:pPr>
            <a:r>
              <a:rPr sz="1500" b="0" i="0">
                <a:solidFill>
                  <a:srgbClr val="EEF2F7"/>
                </a:solidFill>
                <a:latin typeface="Arial"/>
              </a:rPr>
              <a:t>•  "הוא בעל הזכויות הבלעדיות על הנכס".</a:t>
            </a:r>
          </a:p>
          <a:p>
            <a:pPr rtl="1" algn="r">
              <a:spcAft>
                <a:spcPts val="300"/>
              </a:spcAft>
            </a:pPr>
            <a:r>
              <a:rPr sz="1500" b="0" i="0">
                <a:solidFill>
                  <a:srgbClr val="EEF2F7"/>
                </a:solidFill>
                <a:latin typeface="Arial"/>
              </a:rPr>
              <a:t>•  "איש זקן וחולה" — נזק בלתי הפיך אם יפונה.</a:t>
            </a:r>
          </a:p>
          <a:p>
            <a:pPr rtl="1" algn="r"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אין שום טענת התנהלות נגד דרור</a:t>
            </a:r>
            <a:r>
              <a:rPr sz="1500" b="0" i="0">
                <a:solidFill>
                  <a:srgbClr val="EEF2F7"/>
                </a:solidFill>
                <a:latin typeface="Arial"/>
              </a:rPr>
              <a:t> — סכסוך בעלות/פינוי בלבד.</a:t>
            </a:r>
          </a:p>
          <a:p>
            <a:pPr rtl="1" algn="r">
              <a:spcBef>
                <a:spcPts val="800"/>
              </a:spcBef>
              <a:spcAft>
                <a:spcPts val="200"/>
              </a:spcAft>
            </a:pPr>
            <a:r>
              <a:rPr sz="1700" b="1" i="0">
                <a:solidFill>
                  <a:srgbClr val="E9B949"/>
                </a:solidFill>
                <a:latin typeface="Arial"/>
              </a:rPr>
              <a:t>הקביעה</a:t>
            </a:r>
          </a:p>
          <a:p>
            <a:pPr rtl="1" algn="r">
              <a:spcAft>
                <a:spcPts val="300"/>
              </a:spcAft>
            </a:pPr>
            <a:r>
              <a:rPr sz="1300" b="1" i="0">
                <a:solidFill>
                  <a:srgbClr val="EF5B6B"/>
                </a:solidFill>
                <a:latin typeface="Arial"/>
              </a:rPr>
              <a:t>［5892/07: נדחתה］</a:t>
            </a:r>
            <a:r>
              <a:rPr sz="1300" b="0" i="0">
                <a:solidFill>
                  <a:srgbClr val="9FB0C3"/>
                </a:solidFill>
                <a:latin typeface="Arial"/>
              </a:rPr>
              <a:t>   </a:t>
            </a:r>
            <a:r>
              <a:rPr sz="1300" b="1" i="0">
                <a:solidFill>
                  <a:srgbClr val="9FB0C3"/>
                </a:solidFill>
                <a:latin typeface="Arial"/>
              </a:rPr>
              <a:t>［8782/07: צו ארעי פרוצדורלי］</a:t>
            </a:r>
          </a:p>
          <a:p>
            <a:pPr rtl="1" algn="r">
              <a:spcAft>
                <a:spcPts val="300"/>
              </a:spcAft>
            </a:pPr>
            <a:r>
              <a:rPr sz="1500" b="0" i="0">
                <a:solidFill>
                  <a:srgbClr val="EEF2F7"/>
                </a:solidFill>
                <a:latin typeface="Arial"/>
              </a:rPr>
              <a:t>אין ביקורת על דרור.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8686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rtl="1" algn="r"/>
            <a:r>
              <a:rPr sz="2600" b="1" i="0">
                <a:solidFill>
                  <a:srgbClr val="FFFFFF"/>
                </a:solidFill>
                <a:latin typeface="Arial"/>
              </a:rPr>
              <a:t>★ צרפתי — בר"ע (ב"ש) 550/07  ［זיהוי גבוה］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78992"/>
            <a:ext cx="11247120" cy="25400"/>
          </a:xfrm>
          <a:prstGeom prst="rect">
            <a:avLst/>
          </a:prstGeom>
          <a:solidFill>
            <a:srgbClr val="334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01400" cy="53035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rtl="1" algn="r">
              <a:spcAft>
                <a:spcPts val="400"/>
              </a:spcAft>
            </a:pPr>
            <a:r>
              <a:rPr sz="1200" b="0" i="1">
                <a:solidFill>
                  <a:srgbClr val="9FB0C3"/>
                </a:solidFill>
                <a:latin typeface="Arial"/>
              </a:rPr>
              <a:t>בר"ע (ב"ש) 550/07 (הנדל) • 28.8.2007 • דירה בראשון לציון</a:t>
            </a:r>
          </a:p>
          <a:p>
            <a:pPr rtl="1" algn="r">
              <a:spcAft>
                <a:spcPts val="300"/>
              </a:spcAft>
            </a:pPr>
            <a:r>
              <a:rPr sz="1500" b="0" i="0">
                <a:solidFill>
                  <a:srgbClr val="EEF2F7"/>
                </a:solidFill>
                <a:latin typeface="Arial"/>
              </a:rPr>
              <a:t>נושא: תקיפת מכר בכינוס ע"י נושה-מעקל. צדדים: שרון צרפתי (מעקל) נ' עו"ד יוסי דרור (כונס) + בנק לאומי למשכנתאות + סויסה (חייבים) + בן-עזוז (קונים).</a:t>
            </a:r>
          </a:p>
          <a:p>
            <a:pPr rtl="1" algn="r">
              <a:spcBef>
                <a:spcPts val="800"/>
              </a:spcBef>
              <a:spcAft>
                <a:spcPts val="200"/>
              </a:spcAft>
            </a:pPr>
            <a:r>
              <a:rPr sz="1700" b="1" i="0">
                <a:solidFill>
                  <a:srgbClr val="E9B949"/>
                </a:solidFill>
                <a:latin typeface="Arial"/>
              </a:rPr>
              <a:t>הטענה ［טענה – צרפתי］</a:t>
            </a:r>
          </a:p>
          <a:p>
            <a:pPr rtl="1" algn="r">
              <a:spcBef>
                <a:spcPts val="200"/>
              </a:spcBef>
              <a:spcAft>
                <a:spcPts val="400"/>
              </a:spcAft>
            </a:pPr>
            <a:r>
              <a:rPr sz="1400" b="0" i="1">
                <a:solidFill>
                  <a:srgbClr val="4DB5E0"/>
                </a:solidFill>
                <a:latin typeface="Arial"/>
              </a:rPr>
              <a:t>„ התנהל מו"מ נסתר בין הצדדים לעסקת המכר; קנוניה; ו"תוספת תשלום" אחרי המכר בטענת ליקויים — שהקטינה את התמורה. ”</a:t>
            </a:r>
          </a:p>
          <a:p>
            <a:pPr rtl="1" algn="r">
              <a:spcAft>
                <a:spcPts val="300"/>
              </a:spcAft>
            </a:pPr>
            <a:r>
              <a:rPr sz="1300" b="1" i="0">
                <a:solidFill>
                  <a:srgbClr val="F0A92B"/>
                </a:solidFill>
                <a:latin typeface="Arial"/>
              </a:rPr>
              <a:t>［הסתרה/קנוניה］</a:t>
            </a:r>
            <a:r>
              <a:rPr sz="1300" b="0" i="0">
                <a:solidFill>
                  <a:srgbClr val="9FB0C3"/>
                </a:solidFill>
                <a:latin typeface="Arial"/>
              </a:rPr>
              <a:t>   </a:t>
            </a:r>
            <a:r>
              <a:rPr sz="1300" b="1" i="0">
                <a:solidFill>
                  <a:srgbClr val="F0A92B"/>
                </a:solidFill>
                <a:latin typeface="Arial"/>
              </a:rPr>
              <a:t>［ערפול (תוספת מחיר)］</a:t>
            </a:r>
            <a:r>
              <a:rPr sz="1300" b="0" i="0">
                <a:solidFill>
                  <a:srgbClr val="9FB0C3"/>
                </a:solidFill>
                <a:latin typeface="Arial"/>
              </a:rPr>
              <a:t>   </a:t>
            </a:r>
            <a:r>
              <a:rPr sz="1300" b="1" i="0">
                <a:solidFill>
                  <a:srgbClr val="F0A92B"/>
                </a:solidFill>
                <a:latin typeface="Arial"/>
              </a:rPr>
              <a:t>［מכירה בחסר］</a:t>
            </a:r>
          </a:p>
          <a:p>
            <a:pPr rtl="1" algn="r">
              <a:spcBef>
                <a:spcPts val="800"/>
              </a:spcBef>
              <a:spcAft>
                <a:spcPts val="200"/>
              </a:spcAft>
            </a:pPr>
            <a:r>
              <a:rPr sz="1700" b="1" i="0">
                <a:solidFill>
                  <a:srgbClr val="E9B949"/>
                </a:solidFill>
                <a:latin typeface="Arial"/>
              </a:rPr>
              <a:t>הקביעה</a:t>
            </a:r>
          </a:p>
          <a:p>
            <a:pPr rtl="1" algn="r">
              <a:spcAft>
                <a:spcPts val="300"/>
              </a:spcAft>
            </a:pPr>
            <a:r>
              <a:rPr sz="1500" b="1" i="0">
                <a:solidFill>
                  <a:srgbClr val="EF5B6B"/>
                </a:solidFill>
                <a:latin typeface="Arial"/>
              </a:rPr>
              <a:t>נדחה</a:t>
            </a:r>
            <a:r>
              <a:rPr sz="1500" b="0" i="0">
                <a:solidFill>
                  <a:srgbClr val="EEF2F7"/>
                </a:solidFill>
                <a:latin typeface="Arial"/>
              </a:rPr>
              <a:t> — באיחור; סמכות רשם ההוצל"פ "מינהלית בעיקרה"; קנוניה דורשת תביעה אזרחית נפרדת. יוחסה ל"קונים והחייב". הכרעת הנדל הסופית — חסומה.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8686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rtl="1" algn="r"/>
            <a:r>
              <a:rPr sz="2600" b="1" i="0">
                <a:solidFill>
                  <a:srgbClr val="FFFFFF"/>
                </a:solidFill>
                <a:latin typeface="Arial"/>
              </a:rPr>
              <a:t>★ פרשת פלח — סקירה (≈10 הליכים, 2011–2021)  ［זיהוי גבוה］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78992"/>
            <a:ext cx="11247120" cy="25400"/>
          </a:xfrm>
          <a:prstGeom prst="rect">
            <a:avLst/>
          </a:prstGeom>
          <a:solidFill>
            <a:srgbClr val="334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01400" cy="53035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rtl="1" algn="r">
              <a:spcAft>
                <a:spcPts val="300"/>
              </a:spcAft>
            </a:pPr>
            <a:r>
              <a:rPr sz="1500" b="0" i="0">
                <a:solidFill>
                  <a:srgbClr val="EEF2F7"/>
                </a:solidFill>
                <a:latin typeface="Arial"/>
              </a:rPr>
              <a:t>צדדים: יהודה+אילנה פלח (חייבים) נ' עו"ד יוסי דרור (כונס) + בנק לאומי למשכנתאות + פרוספר אזגי (קונה). חוב ≥800,000 ₪, תיק מ-1997; מכר 3,400,000 ₪.</a:t>
            </a:r>
          </a:p>
          <a:p>
            <a:pPr rtl="1" algn="r">
              <a:spcAft>
                <a:spcPts val="300"/>
              </a:spcAft>
            </a:pPr>
            <a:r>
              <a:rPr sz="1500" b="0" i="0">
                <a:solidFill>
                  <a:srgbClr val="EEF2F7"/>
                </a:solidFill>
                <a:latin typeface="Arial"/>
              </a:rPr>
              <a:t>•  רע"א 130/12 (ג'ובראן, 13.2.2012): קיבל ערעור הבנק/כונס; "מעשה עשוי".</a:t>
            </a:r>
          </a:p>
          <a:p>
            <a:pPr rtl="1" algn="r">
              <a:spcAft>
                <a:spcPts val="300"/>
              </a:spcAft>
            </a:pPr>
            <a:r>
              <a:rPr sz="1500" b="0" i="0">
                <a:solidFill>
                  <a:srgbClr val="EEF2F7"/>
                </a:solidFill>
                <a:latin typeface="Arial"/>
              </a:rPr>
              <a:t>•  רע"א 5774/12 (רובינשטיין): טענת קנוניה "בעלמא, ללא תימוכין".</a:t>
            </a:r>
          </a:p>
          <a:p>
            <a:pPr rtl="1" algn="r">
              <a:spcAft>
                <a:spcPts val="300"/>
              </a:spcAft>
            </a:pPr>
            <a:r>
              <a:rPr sz="1500" b="0" i="0">
                <a:solidFill>
                  <a:srgbClr val="EEF2F7"/>
                </a:solidFill>
                <a:latin typeface="Arial"/>
              </a:rPr>
              <a:t>•  רע"א 1743/14: הפלחים משכו את הבקשה; הוצאות עליהם.</a:t>
            </a:r>
          </a:p>
          <a:p>
            <a:pPr rtl="1" algn="r">
              <a:spcAft>
                <a:spcPts val="300"/>
              </a:spcAft>
            </a:pPr>
            <a:r>
              <a:rPr sz="1500" b="0" i="0">
                <a:solidFill>
                  <a:srgbClr val="EEF2F7"/>
                </a:solidFill>
                <a:latin typeface="Arial"/>
              </a:rPr>
              <a:t>רע"א 3710/14 (עמית, 25.5.2014): </a:t>
            </a:r>
            <a:r>
              <a:rPr sz="1500" b="1" i="0">
                <a:solidFill>
                  <a:srgbClr val="EF5B6B"/>
                </a:solidFill>
                <a:latin typeface="Arial"/>
              </a:rPr>
              <a:t>נדחה על הסף — "נהפוך הוא"</a:t>
            </a:r>
          </a:p>
          <a:p>
            <a:pPr rtl="1" algn="r">
              <a:spcAft>
                <a:spcPts val="300"/>
              </a:spcAft>
            </a:pPr>
            <a:r>
              <a:rPr sz="1500" b="0" i="0">
                <a:solidFill>
                  <a:srgbClr val="EEF2F7"/>
                </a:solidFill>
                <a:latin typeface="Arial"/>
              </a:rPr>
              <a:t>•  ע"א 6885/14 (16.3.2016): הערעור נדחה. ［טקסט מלא חסום］</a:t>
            </a:r>
          </a:p>
          <a:p>
            <a:pPr rtl="1" algn="r">
              <a:spcAft>
                <a:spcPts val="300"/>
              </a:spcAft>
            </a:pPr>
            <a:r>
              <a:rPr sz="1500" b="0" i="0">
                <a:solidFill>
                  <a:srgbClr val="EEF2F7"/>
                </a:solidFill>
                <a:latin typeface="Arial"/>
              </a:rPr>
              <a:t>•  ת"א (מרכז) 6143-10-21 (2021): תביעת נזיקין ישירה נגד דרור אישית ［חסום］.</a:t>
            </a:r>
          </a:p>
          <a:p>
            <a:pPr rtl="1" algn="r">
              <a:spcAft>
                <a:spcPts val="300"/>
              </a:spcAft>
            </a:pPr>
            <a:r>
              <a:rPr sz="1500" b="0" i="0">
                <a:solidFill>
                  <a:srgbClr val="EEF2F7"/>
                </a:solidFill>
                <a:latin typeface="Arial"/>
              </a:rPr>
              <a:t>•  תביעת הקונה אזגי — ת"א 53391-11-15 (2017): הסתיים בפשרה בגישור.</a:t>
            </a:r>
          </a:p>
          <a:p>
            <a:pPr rtl="1" algn="r">
              <a:spcAft>
                <a:spcPts val="300"/>
              </a:spcAft>
            </a:pPr>
            <a:r>
              <a:rPr sz="1500" b="0" i="0">
                <a:solidFill>
                  <a:srgbClr val="EEF2F7"/>
                </a:solidFill>
                <a:latin typeface="Arial"/>
              </a:rPr>
              <a:t>ביקורת שיפוטית בפרשה — כולה על החייבים ("תרגיל מובהק בסחבת אין סופית"). אין ביקורת על דרור.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8686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rtl="1" algn="r"/>
            <a:r>
              <a:rPr sz="2600" b="1" i="0">
                <a:solidFill>
                  <a:srgbClr val="FFFFFF"/>
                </a:solidFill>
                <a:latin typeface="Arial"/>
              </a:rPr>
              <a:t>★ פלח — רע"א 3710/14: "האקדח המעשן" שנדחה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78992"/>
            <a:ext cx="11247120" cy="25400"/>
          </a:xfrm>
          <a:prstGeom prst="rect">
            <a:avLst/>
          </a:prstGeom>
          <a:solidFill>
            <a:srgbClr val="334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01400" cy="53035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rtl="1" algn="r">
              <a:spcAft>
                <a:spcPts val="400"/>
              </a:spcAft>
            </a:pPr>
            <a:r>
              <a:rPr sz="1200" b="0" i="1">
                <a:solidFill>
                  <a:srgbClr val="9FB0C3"/>
                </a:solidFill>
                <a:latin typeface="Arial"/>
              </a:rPr>
              <a:t>רע"א 3710/14 (עמית) • 25.5.2014</a:t>
            </a:r>
          </a:p>
          <a:p>
            <a:pPr rtl="1" algn="r">
              <a:spcBef>
                <a:spcPts val="800"/>
              </a:spcBef>
              <a:spcAft>
                <a:spcPts val="200"/>
              </a:spcAft>
            </a:pPr>
            <a:r>
              <a:rPr sz="1700" b="1" i="0">
                <a:solidFill>
                  <a:srgbClr val="E9B949"/>
                </a:solidFill>
                <a:latin typeface="Arial"/>
              </a:rPr>
              <a:t>הטענה ［טענה – פלח］</a:t>
            </a:r>
          </a:p>
          <a:p>
            <a:pPr rtl="1" algn="r">
              <a:spcBef>
                <a:spcPts val="200"/>
              </a:spcBef>
              <a:spcAft>
                <a:spcPts val="400"/>
              </a:spcAft>
            </a:pPr>
            <a:r>
              <a:rPr sz="1400" b="0" i="1">
                <a:solidFill>
                  <a:srgbClr val="4DB5E0"/>
                </a:solidFill>
                <a:latin typeface="Arial"/>
              </a:rPr>
              <a:t>„ תרמית, מזימה, קנוניה וכיו"ב בין הכונס לרוכש — על סמך הקלטת שיחה בין הכונס לחוקר פרטי ("אקדח מעשן"). ”</a:t>
            </a:r>
          </a:p>
          <a:p>
            <a:pPr rtl="1" algn="r">
              <a:spcAft>
                <a:spcPts val="300"/>
              </a:spcAft>
            </a:pPr>
            <a:r>
              <a:rPr sz="1500" b="0" i="0">
                <a:solidFill>
                  <a:srgbClr val="EEF2F7"/>
                </a:solidFill>
                <a:latin typeface="Arial"/>
              </a:rPr>
              <a:t>בנוסף (5774/12): הקונה "אינו 'מציע אמיתי' אלא מתווך... מכירת הנכס לצד ד' ב-6 מיליון ₪"; "הטעה ביודעין ובמכוון" את הרשם.</a:t>
            </a:r>
          </a:p>
          <a:p>
            <a:pPr rtl="1" algn="r">
              <a:spcBef>
                <a:spcPts val="800"/>
              </a:spcBef>
              <a:spcAft>
                <a:spcPts val="200"/>
              </a:spcAft>
            </a:pPr>
            <a:r>
              <a:rPr sz="1700" b="1" i="0">
                <a:solidFill>
                  <a:srgbClr val="E9B949"/>
                </a:solidFill>
                <a:latin typeface="Arial"/>
              </a:rPr>
              <a:t>הקביעה ［★ דברי השופט עמית］</a:t>
            </a:r>
          </a:p>
          <a:p>
            <a:pPr rtl="1" algn="r">
              <a:spcBef>
                <a:spcPts val="200"/>
              </a:spcBef>
              <a:spcAft>
                <a:spcPts val="400"/>
              </a:spcAft>
            </a:pPr>
            <a:r>
              <a:rPr sz="1400" b="0" i="1">
                <a:solidFill>
                  <a:srgbClr val="4DB5E0"/>
                </a:solidFill>
                <a:latin typeface="Arial"/>
              </a:rPr>
              <a:t>„ עיינתי בתמליל השיחה... ולא התרשמתי כלל מ'אקדח מעשן'. נהפוך הוא... תמהני מדוע סבורים המבקשים כי יש בתמליל זה משום ראיה... בדבר תרמית, מזימה, קנוניה. ”</a:t>
            </a:r>
          </a:p>
          <a:p>
            <a:pPr rtl="1" algn="r">
              <a:spcAft>
                <a:spcPts val="300"/>
              </a:spcAft>
            </a:pPr>
            <a:r>
              <a:rPr sz="1500" b="0" i="0">
                <a:solidFill>
                  <a:srgbClr val="EEF2F7"/>
                </a:solidFill>
                <a:latin typeface="Arial"/>
              </a:rPr>
              <a:t>השופט ציין שדרור בהקלטה מנסה למקסם מחיר, ושהחייב עצמו "ביצע מעשי ונדליזם בנכס... הרס את יחידות הדיור".</a:t>
            </a:r>
          </a:p>
          <a:p>
            <a:pPr rtl="1" algn="r">
              <a:spcAft>
                <a:spcPts val="300"/>
              </a:spcAft>
            </a:pPr>
            <a:r>
              <a:rPr sz="1300" b="1" i="0">
                <a:solidFill>
                  <a:srgbClr val="EF5B6B"/>
                </a:solidFill>
                <a:latin typeface="Arial"/>
              </a:rPr>
              <a:t>［קנוניה — נדחתה］</a:t>
            </a:r>
            <a:r>
              <a:rPr sz="1300" b="0" i="0">
                <a:solidFill>
                  <a:srgbClr val="9FB0C3"/>
                </a:solidFill>
                <a:latin typeface="Arial"/>
              </a:rPr>
              <a:t>   </a:t>
            </a:r>
            <a:r>
              <a:rPr sz="1300" b="1" i="0">
                <a:solidFill>
                  <a:srgbClr val="EF5B6B"/>
                </a:solidFill>
                <a:latin typeface="Arial"/>
              </a:rPr>
              <a:t>［רמאות — נדחתה］</a:t>
            </a:r>
            <a:r>
              <a:rPr sz="1300" b="0" i="0">
                <a:solidFill>
                  <a:srgbClr val="9FB0C3"/>
                </a:solidFill>
                <a:latin typeface="Arial"/>
              </a:rPr>
              <a:t>   </a:t>
            </a:r>
            <a:r>
              <a:rPr sz="1300" b="1" i="0">
                <a:solidFill>
                  <a:srgbClr val="EF5B6B"/>
                </a:solidFill>
                <a:latin typeface="Arial"/>
              </a:rPr>
              <a:t>［מכירה בחסר — לא הוכחה］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8686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rtl="1" algn="r"/>
            <a:r>
              <a:rPr sz="2600" b="1" i="0">
                <a:solidFill>
                  <a:srgbClr val="FFFFFF"/>
                </a:solidFill>
                <a:latin typeface="Arial"/>
              </a:rPr>
              <a:t>★ הניג — רע"צ (ת"א) 58936-09-16 (שכר טרחה)  ［זיהוי גבוה］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78992"/>
            <a:ext cx="11247120" cy="25400"/>
          </a:xfrm>
          <a:prstGeom prst="rect">
            <a:avLst/>
          </a:prstGeom>
          <a:solidFill>
            <a:srgbClr val="334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01400" cy="53035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rtl="1" algn="r">
              <a:spcAft>
                <a:spcPts val="400"/>
              </a:spcAft>
            </a:pPr>
            <a:r>
              <a:rPr sz="1200" b="0" i="1">
                <a:solidFill>
                  <a:srgbClr val="9FB0C3"/>
                </a:solidFill>
                <a:latin typeface="Arial"/>
              </a:rPr>
              <a:t>רע"צ 58936-09-16 (סובל) • 3.11.2016 • תיק הוצל"פ 511416-12-14</a:t>
            </a:r>
          </a:p>
          <a:p>
            <a:pPr rtl="1" algn="r">
              <a:spcAft>
                <a:spcPts val="300"/>
              </a:spcAft>
            </a:pPr>
            <a:r>
              <a:rPr sz="1500" b="0" i="0">
                <a:solidFill>
                  <a:srgbClr val="EEF2F7"/>
                </a:solidFill>
                <a:latin typeface="Arial"/>
              </a:rPr>
              <a:t>נושא: בקשת חייב להפחית שכר כונס. צדדים: אריק הניג (חייב) נ' עו"ד יוסי דרור (כונס).</a:t>
            </a:r>
          </a:p>
          <a:p>
            <a:pPr rtl="1" algn="r">
              <a:spcBef>
                <a:spcPts val="800"/>
              </a:spcBef>
              <a:spcAft>
                <a:spcPts val="200"/>
              </a:spcAft>
            </a:pPr>
            <a:r>
              <a:rPr sz="1700" b="1" i="0">
                <a:solidFill>
                  <a:srgbClr val="E9B949"/>
                </a:solidFill>
                <a:latin typeface="Arial"/>
              </a:rPr>
              <a:t>הטענה ［טענה – הניג］</a:t>
            </a:r>
          </a:p>
          <a:p>
            <a:pPr rtl="1" algn="r">
              <a:spcAft>
                <a:spcPts val="300"/>
              </a:spcAft>
            </a:pPr>
            <a:r>
              <a:rPr sz="1500" b="0" i="0">
                <a:solidFill>
                  <a:srgbClr val="EEF2F7"/>
                </a:solidFill>
                <a:latin typeface="Arial"/>
              </a:rPr>
              <a:t>השכר שנפסק — 610,088 ₪ (כולל מע"מ) — מופרז; יש להפחיתו (נימוק: מצב בריאותי).</a:t>
            </a:r>
          </a:p>
          <a:p>
            <a:pPr rtl="1" algn="r">
              <a:spcBef>
                <a:spcPts val="800"/>
              </a:spcBef>
              <a:spcAft>
                <a:spcPts val="200"/>
              </a:spcAft>
            </a:pPr>
            <a:r>
              <a:rPr sz="1700" b="1" i="0">
                <a:solidFill>
                  <a:srgbClr val="E9B949"/>
                </a:solidFill>
                <a:latin typeface="Arial"/>
              </a:rPr>
              <a:t>הקביעה ［★ הערת שופט］</a:t>
            </a:r>
          </a:p>
          <a:p>
            <a:pPr rtl="1" algn="r">
              <a:spcAft>
                <a:spcPts val="300"/>
              </a:spcAft>
            </a:pPr>
            <a:r>
              <a:rPr sz="1500" b="1" i="0">
                <a:solidFill>
                  <a:srgbClr val="EF5B6B"/>
                </a:solidFill>
                <a:latin typeface="Arial"/>
              </a:rPr>
              <a:t>נדחה</a:t>
            </a:r>
            <a:r>
              <a:rPr sz="1500" b="0" i="0">
                <a:solidFill>
                  <a:srgbClr val="EEF2F7"/>
                </a:solidFill>
                <a:latin typeface="Arial"/>
              </a:rPr>
              <a:t> — השכר תואם תקנות; שיקול הדעת להפחתה "מצומצם רק למקרים חריגים".</a:t>
            </a:r>
          </a:p>
          <a:p>
            <a:pPr rtl="1" algn="r">
              <a:spcBef>
                <a:spcPts val="200"/>
              </a:spcBef>
              <a:spcAft>
                <a:spcPts val="400"/>
              </a:spcAft>
            </a:pPr>
            <a:r>
              <a:rPr sz="1400" b="0" i="1">
                <a:solidFill>
                  <a:srgbClr val="4DB5E0"/>
                </a:solidFill>
                <a:latin typeface="Arial"/>
              </a:rPr>
              <a:t>„ לכאורה שכרו של המשיב איננו נמוך ואולם גם התמורה שהושגה במכירת הנכס איננה קטנה. ”</a:t>
            </a:r>
          </a:p>
          <a:p>
            <a:pPr rtl="1" algn="r">
              <a:spcAft>
                <a:spcPts val="300"/>
              </a:spcAft>
            </a:pPr>
            <a:r>
              <a:rPr sz="1500" b="0" i="0">
                <a:solidFill>
                  <a:srgbClr val="EEF2F7"/>
                </a:solidFill>
                <a:latin typeface="Arial"/>
              </a:rPr>
              <a:t>ניואנס: למרות הדחייה — נמנע מלפסוק הוצאות לטובת דרור בשל גובה השכר. רמז עדין שהשכר גבוה אך חוקי.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8686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rtl="1" algn="r"/>
            <a:r>
              <a:rPr sz="2600" b="1" i="0">
                <a:solidFill>
                  <a:srgbClr val="FFFFFF"/>
                </a:solidFill>
                <a:latin typeface="Arial"/>
              </a:rPr>
              <a:t>★ שדה — רע"צ (חיפה) 35333-06-16  ［זיהוי גבוה］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78992"/>
            <a:ext cx="11247120" cy="25400"/>
          </a:xfrm>
          <a:prstGeom prst="rect">
            <a:avLst/>
          </a:prstGeom>
          <a:solidFill>
            <a:srgbClr val="334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01400" cy="53035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rtl="1" algn="r">
              <a:spcAft>
                <a:spcPts val="400"/>
              </a:spcAft>
            </a:pPr>
            <a:r>
              <a:rPr sz="1200" b="0" i="1">
                <a:solidFill>
                  <a:srgbClr val="9FB0C3"/>
                </a:solidFill>
                <a:latin typeface="Arial"/>
              </a:rPr>
              <a:t>רע"צ 35333-06-16 (קלמפנר-נבון) • 23.6.2016 • + רע"א 2145-07-16 • בש"א 7834/16 • מצפה הילה, מכר 1.2 מ' ₪</a:t>
            </a:r>
          </a:p>
          <a:p>
            <a:pPr rtl="1" algn="r">
              <a:spcAft>
                <a:spcPts val="300"/>
              </a:spcAft>
            </a:pPr>
            <a:r>
              <a:rPr sz="1500" b="0" i="0">
                <a:solidFill>
                  <a:srgbClr val="EEF2F7"/>
                </a:solidFill>
                <a:latin typeface="Arial"/>
              </a:rPr>
              <a:t>צדדים: שמואל שדה (חייב) נ' עו"ד יוסי דרור (כונס) + בנק לאומי מערך המשכנתאות + דורוטי שדה.</a:t>
            </a:r>
          </a:p>
          <a:p>
            <a:pPr rtl="1" algn="r">
              <a:spcBef>
                <a:spcPts val="800"/>
              </a:spcBef>
              <a:spcAft>
                <a:spcPts val="200"/>
              </a:spcAft>
            </a:pPr>
            <a:r>
              <a:rPr sz="1700" b="1" i="0">
                <a:solidFill>
                  <a:srgbClr val="E9B949"/>
                </a:solidFill>
                <a:latin typeface="Arial"/>
              </a:rPr>
              <a:t>הטענות ［טענה – שדה］</a:t>
            </a:r>
          </a:p>
          <a:p>
            <a:pPr rtl="1" algn="r">
              <a:spcBef>
                <a:spcPts val="200"/>
              </a:spcBef>
              <a:spcAft>
                <a:spcPts val="400"/>
              </a:spcAft>
            </a:pPr>
            <a:r>
              <a:rPr sz="1400" b="0" i="1">
                <a:solidFill>
                  <a:srgbClr val="4DB5E0"/>
                </a:solidFill>
                <a:latin typeface="Arial"/>
              </a:rPr>
              <a:t>„ כונס הנכסים לא נקט בכל צעד... אלא ישב באפס מעשה ואף לא טרח לפרסם את הנכס. ”</a:t>
            </a:r>
          </a:p>
          <a:p>
            <a:pPr rtl="1" algn="r">
              <a:spcBef>
                <a:spcPts val="200"/>
              </a:spcBef>
              <a:spcAft>
                <a:spcPts val="400"/>
              </a:spcAft>
            </a:pPr>
            <a:r>
              <a:rPr sz="1400" b="0" i="1">
                <a:solidFill>
                  <a:srgbClr val="4DB5E0"/>
                </a:solidFill>
                <a:latin typeface="Arial"/>
              </a:rPr>
              <a:t>„ התנהלותו הטעתה את רשם ההוצאה לפועל; ומידע כוזב שנמסר; התעלמות מהשבחה (תב"ע); ריביות חריגות. ”</a:t>
            </a:r>
          </a:p>
          <a:p>
            <a:pPr rtl="1" algn="r">
              <a:spcAft>
                <a:spcPts val="300"/>
              </a:spcAft>
            </a:pPr>
            <a:r>
              <a:rPr sz="1500" b="0" i="0">
                <a:solidFill>
                  <a:srgbClr val="EEF2F7"/>
                </a:solidFill>
                <a:latin typeface="Arial"/>
              </a:rPr>
              <a:t>שדה הבהיר: אינו מתנגד למכר עצמו — רק להתנהלות הכונס והשמאי.</a:t>
            </a:r>
          </a:p>
          <a:p>
            <a:pPr rtl="1" algn="r">
              <a:spcBef>
                <a:spcPts val="800"/>
              </a:spcBef>
              <a:spcAft>
                <a:spcPts val="200"/>
              </a:spcAft>
            </a:pPr>
            <a:r>
              <a:rPr sz="1700" b="1" i="0">
                <a:solidFill>
                  <a:srgbClr val="E9B949"/>
                </a:solidFill>
                <a:latin typeface="Arial"/>
              </a:rPr>
              <a:t>הקביעה</a:t>
            </a:r>
          </a:p>
          <a:p>
            <a:pPr rtl="1" algn="r">
              <a:spcAft>
                <a:spcPts val="300"/>
              </a:spcAft>
            </a:pPr>
            <a:r>
              <a:rPr sz="1500" b="0" i="0">
                <a:solidFill>
                  <a:srgbClr val="EEF2F7"/>
                </a:solidFill>
                <a:latin typeface="Arial"/>
              </a:rPr>
              <a:t>הרשם דחה הכל לגופו (8.9.16). ואז — </a:t>
            </a:r>
            <a:r>
              <a:rPr sz="1500" b="1" i="0">
                <a:solidFill>
                  <a:srgbClr val="4DB5E0"/>
                </a:solidFill>
                <a:latin typeface="Arial"/>
              </a:rPr>
              <a:t>הסתיים בפשרה ונמחק</a:t>
            </a:r>
            <a:r>
              <a:rPr sz="1500" b="0" i="0">
                <a:solidFill>
                  <a:srgbClr val="EEF2F7"/>
                </a:solidFill>
                <a:latin typeface="Arial"/>
              </a:rPr>
              <a:t> (9.11.2016). אין קביעה נגד דרור.</a:t>
            </a:r>
          </a:p>
          <a:p>
            <a:pPr rtl="1" algn="r">
              <a:spcAft>
                <a:spcPts val="300"/>
              </a:spcAft>
            </a:pPr>
            <a:r>
              <a:rPr sz="1300" b="1" i="0">
                <a:solidFill>
                  <a:srgbClr val="F0A92B"/>
                </a:solidFill>
                <a:latin typeface="Arial"/>
              </a:rPr>
              <a:t>［פסיביות/מכירה בחסר］</a:t>
            </a:r>
            <a:r>
              <a:rPr sz="1300" b="0" i="0">
                <a:solidFill>
                  <a:srgbClr val="9FB0C3"/>
                </a:solidFill>
                <a:latin typeface="Arial"/>
              </a:rPr>
              <a:t>   </a:t>
            </a:r>
            <a:r>
              <a:rPr sz="1300" b="1" i="0">
                <a:solidFill>
                  <a:srgbClr val="F0A92B"/>
                </a:solidFill>
                <a:latin typeface="Arial"/>
              </a:rPr>
              <a:t>［הסתרה (מידע כוזב)］</a:t>
            </a:r>
            <a:r>
              <a:rPr sz="1300" b="0" i="0">
                <a:solidFill>
                  <a:srgbClr val="9FB0C3"/>
                </a:solidFill>
                <a:latin typeface="Arial"/>
              </a:rPr>
              <a:t>   </a:t>
            </a:r>
            <a:r>
              <a:rPr sz="1300" b="1" i="0">
                <a:solidFill>
                  <a:srgbClr val="4DB5E0"/>
                </a:solidFill>
                <a:latin typeface="Arial"/>
              </a:rPr>
              <a:t>［פשרה］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8686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rtl="1" algn="r"/>
            <a:r>
              <a:rPr sz="2600" b="1" i="0">
                <a:solidFill>
                  <a:srgbClr val="FFFFFF"/>
                </a:solidFill>
                <a:latin typeface="Arial"/>
              </a:rPr>
              <a:t>★ אלימלך — מכירה ב-60% וניסיון "עדות שיטה"  ［זיהוי גבוה］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78992"/>
            <a:ext cx="11247120" cy="25400"/>
          </a:xfrm>
          <a:prstGeom prst="rect">
            <a:avLst/>
          </a:prstGeom>
          <a:solidFill>
            <a:srgbClr val="334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01400" cy="53035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rtl="1" algn="r">
              <a:spcAft>
                <a:spcPts val="400"/>
              </a:spcAft>
            </a:pPr>
            <a:r>
              <a:rPr sz="1200" b="0" i="1">
                <a:solidFill>
                  <a:srgbClr val="9FB0C3"/>
                </a:solidFill>
                <a:latin typeface="Arial"/>
              </a:rPr>
              <a:t>ת"א (ראשל"צ) 41505-07-18 (אבי סתיו) • 2018-2022 • דירה בראשל"צ; מכר 750,000 ₪</a:t>
            </a:r>
          </a:p>
          <a:p>
            <a:pPr rtl="1" algn="r">
              <a:spcAft>
                <a:spcPts val="300"/>
              </a:spcAft>
            </a:pPr>
            <a:r>
              <a:rPr sz="1500" b="0" i="0">
                <a:solidFill>
                  <a:srgbClr val="EEF2F7"/>
                </a:solidFill>
                <a:latin typeface="Arial"/>
              </a:rPr>
              <a:t>צדדים: דליה חוה אלימלך נ' בנק לאומי + בנק לאומי למשכנתאות + יוסי דרור (כונס) + אסף לוי (קונה) + עו"ד מריון בנדורי.</a:t>
            </a:r>
          </a:p>
          <a:p>
            <a:pPr rtl="1" algn="r">
              <a:spcBef>
                <a:spcPts val="800"/>
              </a:spcBef>
              <a:spcAft>
                <a:spcPts val="200"/>
              </a:spcAft>
            </a:pPr>
            <a:r>
              <a:rPr sz="1700" b="1" i="0">
                <a:solidFill>
                  <a:srgbClr val="E9B949"/>
                </a:solidFill>
                <a:latin typeface="Arial"/>
              </a:rPr>
              <a:t>הטענות ［טענה – אלימלך］</a:t>
            </a:r>
          </a:p>
          <a:p>
            <a:pPr rtl="1" algn="r">
              <a:spcAft>
                <a:spcPts val="300"/>
              </a:spcAft>
            </a:pPr>
            <a:r>
              <a:rPr sz="1500" b="0" i="0">
                <a:solidFill>
                  <a:srgbClr val="EEF2F7"/>
                </a:solidFill>
                <a:latin typeface="Arial"/>
              </a:rPr>
              <a:t>•  "מצג מטעה" / "הטעיה ומרמה" לגבי "גרירת" המענק המותנה.</a:t>
            </a:r>
          </a:p>
          <a:p>
            <a:pPr rtl="1" algn="r">
              <a:spcAft>
                <a:spcPts val="300"/>
              </a:spcAft>
            </a:pPr>
            <a:r>
              <a:rPr sz="1500" b="0" i="0">
                <a:solidFill>
                  <a:srgbClr val="EEF2F7"/>
                </a:solidFill>
                <a:latin typeface="Arial"/>
              </a:rPr>
              <a:t>•  ★ הקלטה שלפיה דרור "מכר את הדירה... ב-60 אחוז ממחירה הנכון" — וניסיון לבסס "דפוס פעולה" / עדות שיטה.</a:t>
            </a:r>
          </a:p>
          <a:p>
            <a:pPr rtl="1" algn="r">
              <a:spcBef>
                <a:spcPts val="800"/>
              </a:spcBef>
              <a:spcAft>
                <a:spcPts val="200"/>
              </a:spcAft>
            </a:pPr>
            <a:r>
              <a:rPr sz="1700" b="1" i="0">
                <a:solidFill>
                  <a:srgbClr val="E9B949"/>
                </a:solidFill>
                <a:latin typeface="Arial"/>
              </a:rPr>
              <a:t>הקביעה ［★ השופט סתיו］</a:t>
            </a:r>
          </a:p>
          <a:p>
            <a:pPr rtl="1" algn="r">
              <a:spcBef>
                <a:spcPts val="200"/>
              </a:spcBef>
              <a:spcAft>
                <a:spcPts val="400"/>
              </a:spcAft>
            </a:pPr>
            <a:r>
              <a:rPr sz="1400" b="0" i="1">
                <a:solidFill>
                  <a:srgbClr val="4DB5E0"/>
                </a:solidFill>
                <a:latin typeface="Arial"/>
              </a:rPr>
              <a:t>„ הראיה כלל אינה רלוונטית להליך... אין מדובר בטענות למעשים דומים באופן העשוי לבסס 'עדות שיטה'... זיקה כה קלושה. ”</a:t>
            </a:r>
          </a:p>
          <a:p>
            <a:pPr rtl="1" algn="r">
              <a:spcAft>
                <a:spcPts val="300"/>
              </a:spcAft>
            </a:pPr>
            <a:r>
              <a:rPr sz="1500" b="1" i="0">
                <a:solidFill>
                  <a:srgbClr val="EF5B6B"/>
                </a:solidFill>
                <a:latin typeface="Arial"/>
              </a:rPr>
              <a:t>ההקלטה נפסלה</a:t>
            </a:r>
            <a:r>
              <a:rPr sz="1500" b="0" i="0">
                <a:solidFill>
                  <a:srgbClr val="EEF2F7"/>
                </a:solidFill>
                <a:latin typeface="Arial"/>
              </a:rPr>
              <a:t> — לא נבחנה לגופה. התביעה נדחתה; הערעור נמחק (אי-הפקדת ערובה).</a:t>
            </a:r>
          </a:p>
          <a:p>
            <a:pPr rtl="1" algn="r">
              <a:spcAft>
                <a:spcPts val="300"/>
              </a:spcAft>
            </a:pPr>
            <a:r>
              <a:rPr sz="1500" b="0" i="0">
                <a:solidFill>
                  <a:srgbClr val="EEF2F7"/>
                </a:solidFill>
                <a:latin typeface="Arial"/>
              </a:rPr>
              <a:t>⚠️ טענת ה-60% נפסלה כראיה ולא הוכרעה — לא להציג כעובדה. ניסיון "שיטה" נדחה משפטית.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8686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rtl="1" algn="r"/>
            <a:r>
              <a:rPr sz="2600" b="1" i="0">
                <a:solidFill>
                  <a:srgbClr val="FFFFFF"/>
                </a:solidFill>
                <a:latin typeface="Arial"/>
              </a:rPr>
              <a:t>דשתי (רע"א 37/19) ובן טובים (רע"א 1708/19)  ［זיהוי גבוה］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78992"/>
            <a:ext cx="11247120" cy="25400"/>
          </a:xfrm>
          <a:prstGeom prst="rect">
            <a:avLst/>
          </a:prstGeom>
          <a:solidFill>
            <a:srgbClr val="334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01400" cy="53035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rtl="1" algn="r">
              <a:spcBef>
                <a:spcPts val="800"/>
              </a:spcBef>
              <a:spcAft>
                <a:spcPts val="200"/>
              </a:spcAft>
            </a:pPr>
            <a:r>
              <a:rPr sz="1700" b="1" i="0">
                <a:solidFill>
                  <a:srgbClr val="E9B949"/>
                </a:solidFill>
                <a:latin typeface="Arial"/>
              </a:rPr>
              <a:t>דשתי — רע"א 37/19 (2019)</a:t>
            </a:r>
          </a:p>
          <a:p>
            <a:pPr rtl="1" algn="r">
              <a:spcAft>
                <a:spcPts val="300"/>
              </a:spcAft>
            </a:pPr>
            <a:r>
              <a:rPr sz="1500" b="0" i="0">
                <a:solidFill>
                  <a:srgbClr val="EEF2F7"/>
                </a:solidFill>
                <a:latin typeface="Arial"/>
              </a:rPr>
              <a:t>פש"ר 36864-04-18; חולון. דשתי טענה שחתימותיה על המשכנתא זויפו — וזכתה (השעבוד בטל; דיירת מוגנת). שמאות: ריק 1,570,000 ₪ / תפוס 800,000 ₪. דרור ביקש למכור חצי-חלק; המנהל המיוחד ביקש לעצור.</a:t>
            </a:r>
          </a:p>
          <a:p>
            <a:pPr rtl="1" algn="r">
              <a:spcAft>
                <a:spcPts val="300"/>
              </a:spcAft>
            </a:pPr>
            <a:r>
              <a:rPr sz="1300" b="1" i="0">
                <a:solidFill>
                  <a:srgbClr val="9FB0C3"/>
                </a:solidFill>
                <a:latin typeface="Arial"/>
              </a:rPr>
              <a:t>［עוכב זמנית; הכרעה סופית חסומה］</a:t>
            </a:r>
            <a:r>
              <a:rPr sz="1300" b="0" i="0">
                <a:solidFill>
                  <a:srgbClr val="9FB0C3"/>
                </a:solidFill>
                <a:latin typeface="Arial"/>
              </a:rPr>
              <a:t>   </a:t>
            </a:r>
            <a:r>
              <a:rPr sz="1300" b="1" i="0">
                <a:solidFill>
                  <a:srgbClr val="43C08A"/>
                </a:solidFill>
                <a:latin typeface="Arial"/>
              </a:rPr>
              <a:t>［הזיוף נגד הבנק, לא דרור］</a:t>
            </a:r>
          </a:p>
          <a:p>
            <a:pPr rtl="1" algn="r">
              <a:spcBef>
                <a:spcPts val="800"/>
              </a:spcBef>
              <a:spcAft>
                <a:spcPts val="200"/>
              </a:spcAft>
            </a:pPr>
            <a:r>
              <a:rPr sz="1700" b="1" i="0">
                <a:solidFill>
                  <a:srgbClr val="E9B949"/>
                </a:solidFill>
                <a:latin typeface="Arial"/>
              </a:rPr>
              <a:t>בן טובים — רע"א 1708/19 (2019)</a:t>
            </a:r>
          </a:p>
          <a:p>
            <a:pPr rtl="1" algn="r">
              <a:spcAft>
                <a:spcPts val="300"/>
              </a:spcAft>
            </a:pPr>
            <a:r>
              <a:rPr sz="1500" b="0" i="0">
                <a:solidFill>
                  <a:srgbClr val="EEF2F7"/>
                </a:solidFill>
                <a:latin typeface="Arial"/>
              </a:rPr>
              <a:t>פש"ר 42643-09-16; קדושי קהיר 19/54 חולון. הטקסט המלא חסום לחלוטין — לא ניתן לאמת טענות/תוצאה.</a:t>
            </a:r>
          </a:p>
          <a:p>
            <a:pPr rtl="1" algn="r">
              <a:spcBef>
                <a:spcPts val="800"/>
              </a:spcBef>
              <a:spcAft>
                <a:spcPts val="200"/>
              </a:spcAft>
            </a:pPr>
            <a:r>
              <a:rPr sz="1700" b="1" i="0">
                <a:solidFill>
                  <a:srgbClr val="E9B949"/>
                </a:solidFill>
                <a:latin typeface="Arial"/>
              </a:rPr>
              <a:t>ע"א 6050/18 (אברהמי) — להבהרה</a:t>
            </a:r>
          </a:p>
          <a:p>
            <a:pPr rtl="1" algn="r">
              <a:spcAft>
                <a:spcPts val="300"/>
              </a:spcAft>
            </a:pPr>
            <a:r>
              <a:rPr sz="1500" b="0" i="0">
                <a:solidFill>
                  <a:srgbClr val="EEF2F7"/>
                </a:solidFill>
                <a:latin typeface="Arial"/>
              </a:rPr>
              <a:t>דרור + בנק לאומי הם צדדים "פורמליים". המחלוקת בין החייב לכונסים של בנק דיסקונט. אין טענה נגד דרור.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8686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rtl="1" algn="r"/>
            <a:r>
              <a:rPr sz="2600" b="1" i="0">
                <a:solidFill>
                  <a:srgbClr val="FFFFFF"/>
                </a:solidFill>
                <a:latin typeface="Arial"/>
              </a:rPr>
              <a:t>★ רפאל כהן — ת"א (ת"א) 30628-08-18  ［זיהוי ודאי］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78992"/>
            <a:ext cx="11247120" cy="25400"/>
          </a:xfrm>
          <a:prstGeom prst="rect">
            <a:avLst/>
          </a:prstGeom>
          <a:solidFill>
            <a:srgbClr val="334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01400" cy="53035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rtl="1" algn="r">
              <a:spcAft>
                <a:spcPts val="400"/>
              </a:spcAft>
            </a:pPr>
            <a:r>
              <a:rPr sz="1200" b="0" i="1">
                <a:solidFill>
                  <a:srgbClr val="9FB0C3"/>
                </a:solidFill>
                <a:latin typeface="Arial"/>
              </a:rPr>
              <a:t>ת"א 30628-08-18 (פינצ'וק-אלט) • 24.3.2024 • תביעה 331,603 ₪ • כינוס על זכויות הזוג אלזם, כרמי יוסף; מכר 4.75 מ' ₪</a:t>
            </a:r>
          </a:p>
          <a:p>
            <a:pPr rtl="1" algn="r">
              <a:spcAft>
                <a:spcPts val="300"/>
              </a:spcAft>
            </a:pPr>
            <a:r>
              <a:rPr sz="1500" b="0" i="0">
                <a:solidFill>
                  <a:srgbClr val="EEF2F7"/>
                </a:solidFill>
                <a:latin typeface="Arial"/>
              </a:rPr>
              <a:t>צדדים: רפאל כהן (רוכש/משקיע) נ' עו"ד יוסף דרור (כונס) + בנק לאומי למשכנתאות.</a:t>
            </a:r>
          </a:p>
          <a:p>
            <a:pPr rtl="1" algn="r">
              <a:spcBef>
                <a:spcPts val="800"/>
              </a:spcBef>
              <a:spcAft>
                <a:spcPts val="200"/>
              </a:spcAft>
            </a:pPr>
            <a:r>
              <a:rPr sz="1700" b="1" i="0">
                <a:solidFill>
                  <a:srgbClr val="E9B949"/>
                </a:solidFill>
                <a:latin typeface="Arial"/>
              </a:rPr>
              <a:t>הטענות ［טענה – כהן］</a:t>
            </a:r>
          </a:p>
          <a:p>
            <a:pPr rtl="1" algn="r">
              <a:spcBef>
                <a:spcPts val="200"/>
              </a:spcBef>
              <a:spcAft>
                <a:spcPts val="400"/>
              </a:spcAft>
            </a:pPr>
            <a:r>
              <a:rPr sz="1400" b="0" i="1">
                <a:solidFill>
                  <a:srgbClr val="4DB5E0"/>
                </a:solidFill>
                <a:latin typeface="Arial"/>
              </a:rPr>
              <a:t>„ בהסתמך על הבטחת הכונס שילם 200,000 ₪... הבטחת הכונס הופרה... בניגוד להבטחתו לא דיווח לרשם ההוצל"פ... הסכום לא הוחזר. ”</a:t>
            </a:r>
          </a:p>
          <a:p>
            <a:pPr rtl="1" algn="r">
              <a:spcAft>
                <a:spcPts val="300"/>
              </a:spcAft>
            </a:pPr>
            <a:r>
              <a:rPr sz="1500" b="0" i="0">
                <a:solidFill>
                  <a:srgbClr val="EEF2F7"/>
                </a:solidFill>
                <a:latin typeface="Arial"/>
              </a:rPr>
              <a:t>ועוד: הכונס "התרשל" בכך שלא קיזז פיצוי מוסכם 10% (לפחות 450,000 ₪).</a:t>
            </a:r>
          </a:p>
          <a:p>
            <a:pPr rtl="1" algn="r">
              <a:spcBef>
                <a:spcPts val="800"/>
              </a:spcBef>
              <a:spcAft>
                <a:spcPts val="200"/>
              </a:spcAft>
            </a:pPr>
            <a:r>
              <a:rPr sz="1700" b="1" i="0">
                <a:solidFill>
                  <a:srgbClr val="E9B949"/>
                </a:solidFill>
                <a:latin typeface="Arial"/>
              </a:rPr>
              <a:t>הקביעה ［★ קביעה אקטיבית של שקיפות］</a:t>
            </a:r>
          </a:p>
          <a:p>
            <a:pPr rtl="1" algn="r">
              <a:spcBef>
                <a:spcPts val="200"/>
              </a:spcBef>
              <a:spcAft>
                <a:spcPts val="400"/>
              </a:spcAft>
            </a:pPr>
            <a:r>
              <a:rPr sz="1400" b="0" i="1">
                <a:solidFill>
                  <a:srgbClr val="4DB5E0"/>
                </a:solidFill>
                <a:latin typeface="Arial"/>
              </a:rPr>
              <a:t>„ הכונס פעל בשקיפות בתיק ההוצל"פ קיבל את אישור רשם ההוצל"פ ופעל בהתאם להחלטות... אין בהן ממש. ”</a:t>
            </a:r>
          </a:p>
          <a:p>
            <a:pPr rtl="1" algn="r">
              <a:spcAft>
                <a:spcPts val="300"/>
              </a:spcAft>
            </a:pPr>
            <a:r>
              <a:rPr sz="1500" b="1" i="0">
                <a:solidFill>
                  <a:srgbClr val="EF5B6B"/>
                </a:solidFill>
                <a:latin typeface="Arial"/>
              </a:rPr>
              <a:t>התביעה נדחתה במלואה</a:t>
            </a:r>
            <a:r>
              <a:rPr sz="1500" b="0" i="0">
                <a:solidFill>
                  <a:srgbClr val="EEF2F7"/>
                </a:solidFill>
                <a:latin typeface="Arial"/>
              </a:rPr>
              <a:t>. כהן חויב ב-35,000 ₪ לכל נתבע (70,000 ₪).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8686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rtl="1" algn="r"/>
            <a:r>
              <a:rPr sz="2600" b="1" i="0">
                <a:solidFill>
                  <a:srgbClr val="FFFFFF"/>
                </a:solidFill>
                <a:latin typeface="Arial"/>
              </a:rPr>
              <a:t>★ ריף — חיוב בהשבת 70,000 ₪  ［זיהוי ודאי］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78992"/>
            <a:ext cx="11247120" cy="25400"/>
          </a:xfrm>
          <a:prstGeom prst="rect">
            <a:avLst/>
          </a:prstGeom>
          <a:solidFill>
            <a:srgbClr val="334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01400" cy="53035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rtl="1" algn="r">
              <a:spcAft>
                <a:spcPts val="400"/>
              </a:spcAft>
            </a:pPr>
            <a:r>
              <a:rPr sz="1200" b="0" i="1">
                <a:solidFill>
                  <a:srgbClr val="9FB0C3"/>
                </a:solidFill>
                <a:latin typeface="Arial"/>
              </a:rPr>
              <a:t>ת"א 64400-01-22 → ע"א (מרכז) 31216-06-22 • 28.12.2022 • תביעה 669,752 ₪</a:t>
            </a:r>
          </a:p>
          <a:p>
            <a:pPr rtl="1" algn="r">
              <a:spcAft>
                <a:spcPts val="300"/>
              </a:spcAft>
            </a:pPr>
            <a:r>
              <a:rPr sz="1500" b="0" i="0">
                <a:solidFill>
                  <a:srgbClr val="EEF2F7"/>
                </a:solidFill>
                <a:latin typeface="Arial"/>
              </a:rPr>
              <a:t>נושא: נזקים בבית שנמכר בכינוס (גירושים). מוטי קנה חצי גרושתו ב-6.2 מ' ₪. צדדים: מוטי ריף נ' עו"ד דרור יוסי (כונס) + זוהרה ריף.</a:t>
            </a:r>
          </a:p>
          <a:p>
            <a:pPr rtl="1" algn="r">
              <a:spcBef>
                <a:spcPts val="800"/>
              </a:spcBef>
              <a:spcAft>
                <a:spcPts val="200"/>
              </a:spcAft>
            </a:pPr>
            <a:r>
              <a:rPr sz="1700" b="1" i="0">
                <a:solidFill>
                  <a:srgbClr val="E9B949"/>
                </a:solidFill>
                <a:latin typeface="Arial"/>
              </a:rPr>
              <a:t>הטענה ［טענה – מוטי ריף］</a:t>
            </a:r>
          </a:p>
          <a:p>
            <a:pPr rtl="1" algn="r">
              <a:spcBef>
                <a:spcPts val="200"/>
              </a:spcBef>
              <a:spcAft>
                <a:spcPts val="400"/>
              </a:spcAft>
            </a:pPr>
            <a:r>
              <a:rPr sz="1400" b="0" i="1">
                <a:solidFill>
                  <a:srgbClr val="4DB5E0"/>
                </a:solidFill>
                <a:latin typeface="Arial"/>
              </a:rPr>
              <a:t>„ חרף התחייבות הכונס למסור את הבית רק עם בלאי סביר, מצא הוא את הבית עם נזקים הכוללים הזנחה מכוונת ואף השחתה. ”</a:t>
            </a:r>
          </a:p>
          <a:p>
            <a:pPr rtl="1" algn="r">
              <a:spcBef>
                <a:spcPts val="800"/>
              </a:spcBef>
              <a:spcAft>
                <a:spcPts val="200"/>
              </a:spcAft>
            </a:pPr>
            <a:r>
              <a:rPr sz="1700" b="1" i="0">
                <a:solidFill>
                  <a:srgbClr val="E9B949"/>
                </a:solidFill>
                <a:latin typeface="Arial"/>
              </a:rPr>
              <a:t>הקביעה ［★ כסף הוחזר］</a:t>
            </a:r>
          </a:p>
          <a:p>
            <a:pPr rtl="1" algn="r">
              <a:spcAft>
                <a:spcPts val="300"/>
              </a:spcAft>
            </a:pPr>
            <a:r>
              <a:rPr sz="1500" b="0" i="0">
                <a:solidFill>
                  <a:srgbClr val="EEF2F7"/>
                </a:solidFill>
                <a:latin typeface="Arial"/>
              </a:rPr>
              <a:t>פס"ד קמא בוטל בהסכמה; לפי סעיף 79א — ללא הנמקה — </a:t>
            </a:r>
            <a:r>
              <a:rPr sz="1500" b="1" i="0">
                <a:solidFill>
                  <a:srgbClr val="43C08A"/>
                </a:solidFill>
                <a:latin typeface="Arial"/>
              </a:rPr>
              <a:t>עו"ד דרור ישיב לזוהרה 70,000 ₪</a:t>
            </a:r>
            <a:r>
              <a:rPr sz="1500" b="0" i="0">
                <a:solidFill>
                  <a:srgbClr val="EEF2F7"/>
                </a:solidFill>
                <a:latin typeface="Arial"/>
              </a:rPr>
              <a:t>.</a:t>
            </a:r>
          </a:p>
          <a:p>
            <a:pPr rtl="1" algn="r">
              <a:spcAft>
                <a:spcPts val="300"/>
              </a:spcAft>
            </a:pPr>
            <a:r>
              <a:rPr sz="1500" b="0" i="0">
                <a:solidFill>
                  <a:srgbClr val="EEF2F7"/>
                </a:solidFill>
                <a:latin typeface="Arial"/>
              </a:rPr>
              <a:t>⚠️ 79א = פשרה ללא הנמקה וללא קביעת אשם. ההשחתה המכוונת יוחסה לגרושה, לא לדרור. ובכל זאת — מהמקרים הבודדים שבהם שולם כסף בקשר אליו.</a:t>
            </a:r>
          </a:p>
          <a:p>
            <a:pPr rtl="1" algn="r">
              <a:spcAft>
                <a:spcPts val="300"/>
              </a:spcAft>
            </a:pPr>
            <a:r>
              <a:rPr sz="1300" b="1" i="0">
                <a:solidFill>
                  <a:srgbClr val="F0A92B"/>
                </a:solidFill>
                <a:latin typeface="Arial"/>
              </a:rPr>
              <a:t>［סעיף שניסח ("בלאי סביר")］</a:t>
            </a:r>
            <a:r>
              <a:rPr sz="1300" b="0" i="0">
                <a:solidFill>
                  <a:srgbClr val="9FB0C3"/>
                </a:solidFill>
                <a:latin typeface="Arial"/>
              </a:rPr>
              <a:t>   </a:t>
            </a:r>
            <a:r>
              <a:rPr sz="1300" b="1" i="0">
                <a:solidFill>
                  <a:srgbClr val="F0A92B"/>
                </a:solidFill>
                <a:latin typeface="Arial"/>
              </a:rPr>
              <a:t>［רשלנות/תחזוקה］</a:t>
            </a:r>
            <a:r>
              <a:rPr sz="1300" b="0" i="0">
                <a:solidFill>
                  <a:srgbClr val="9FB0C3"/>
                </a:solidFill>
                <a:latin typeface="Arial"/>
              </a:rPr>
              <a:t>   </a:t>
            </a:r>
            <a:r>
              <a:rPr sz="1300" b="1" i="0">
                <a:solidFill>
                  <a:srgbClr val="43C08A"/>
                </a:solidFill>
                <a:latin typeface="Arial"/>
              </a:rPr>
              <a:t>［79א: 70,000 ₪］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8686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rtl="1" algn="r"/>
            <a:r>
              <a:rPr sz="2600" b="1" i="0">
                <a:solidFill>
                  <a:srgbClr val="FFFFFF"/>
                </a:solidFill>
                <a:latin typeface="Arial"/>
              </a:rPr>
              <a:t>אשכול נושאי: שכר טרחה ("בכל מחיר"?)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78992"/>
            <a:ext cx="11247120" cy="25400"/>
          </a:xfrm>
          <a:prstGeom prst="rect">
            <a:avLst/>
          </a:prstGeom>
          <a:solidFill>
            <a:srgbClr val="334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01400" cy="53035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rtl="1" algn="r">
              <a:spcBef>
                <a:spcPts val="800"/>
              </a:spcBef>
              <a:spcAft>
                <a:spcPts val="200"/>
              </a:spcAft>
            </a:pPr>
            <a:r>
              <a:rPr sz="1700" b="1" i="0">
                <a:solidFill>
                  <a:srgbClr val="E9B949"/>
                </a:solidFill>
                <a:latin typeface="Arial"/>
              </a:rPr>
              <a:t>מה נטען</a:t>
            </a:r>
          </a:p>
          <a:p>
            <a:pPr rtl="1" algn="r">
              <a:spcAft>
                <a:spcPts val="300"/>
              </a:spcAft>
            </a:pPr>
            <a:r>
              <a:rPr sz="1500" b="0" i="0">
                <a:solidFill>
                  <a:srgbClr val="EEF2F7"/>
                </a:solidFill>
                <a:latin typeface="Arial"/>
              </a:rPr>
              <a:t>•  הניג: 610,088 ₪ מופרז → נדחה.</a:t>
            </a:r>
          </a:p>
          <a:p>
            <a:pPr rtl="1" algn="r">
              <a:spcAft>
                <a:spcPts val="300"/>
              </a:spcAft>
            </a:pPr>
            <a:r>
              <a:rPr sz="1500" b="0" i="0">
                <a:solidFill>
                  <a:srgbClr val="EEF2F7"/>
                </a:solidFill>
                <a:latin typeface="Arial"/>
              </a:rPr>
              <a:t>•  שמעיה (12657-12-17): מחלוקת שכ"ט → נדחתה.</a:t>
            </a:r>
          </a:p>
          <a:p>
            <a:pPr rtl="1" algn="r">
              <a:spcAft>
                <a:spcPts val="300"/>
              </a:spcAft>
            </a:pPr>
            <a:r>
              <a:rPr sz="1500" b="0" i="0">
                <a:solidFill>
                  <a:srgbClr val="EEF2F7"/>
                </a:solidFill>
                <a:latin typeface="Arial"/>
              </a:rPr>
              <a:t>•  בטיט (503/04): שכר מול חוסר פעילות → ★ הוחזר לדיון.</a:t>
            </a:r>
          </a:p>
          <a:p>
            <a:pPr rtl="1" algn="r">
              <a:spcBef>
                <a:spcPts val="800"/>
              </a:spcBef>
              <a:spcAft>
                <a:spcPts val="200"/>
              </a:spcAft>
            </a:pPr>
            <a:r>
              <a:rPr sz="1700" b="1" i="0">
                <a:solidFill>
                  <a:srgbClr val="E9B949"/>
                </a:solidFill>
                <a:latin typeface="Arial"/>
              </a:rPr>
              <a:t>בסיס ההוגנות — התעריף הרגולטורי (תקנות 2002)</a:t>
            </a:r>
          </a:p>
          <a:p>
            <a:pPr rtl="1" algn="r">
              <a:spcAft>
                <a:spcPts val="300"/>
              </a:spcAft>
            </a:pPr>
            <a:r>
              <a:rPr sz="1500" b="0" i="0">
                <a:solidFill>
                  <a:srgbClr val="EEF2F7"/>
                </a:solidFill>
                <a:latin typeface="Arial"/>
              </a:rPr>
              <a:t>•  תעריף קשיח 6%–8% ממחיר המכירה.</a:t>
            </a:r>
          </a:p>
          <a:p>
            <a:pPr rtl="1" algn="r">
              <a:spcAft>
                <a:spcPts val="300"/>
              </a:spcAft>
            </a:pPr>
            <a:r>
              <a:rPr sz="1500" b="0" i="0">
                <a:solidFill>
                  <a:srgbClr val="EEF2F7"/>
                </a:solidFill>
                <a:latin typeface="Arial"/>
              </a:rPr>
              <a:t>•  השכר מוטל על החייב כברירת מחדל ("אלא במקרים חריגים").</a:t>
            </a:r>
          </a:p>
          <a:p>
            <a:pPr rtl="1" algn="r">
              <a:spcAft>
                <a:spcPts val="300"/>
              </a:spcAft>
            </a:pPr>
            <a:r>
              <a:rPr sz="1500" b="0" i="0">
                <a:solidFill>
                  <a:srgbClr val="EEF2F7"/>
                </a:solidFill>
                <a:latin typeface="Arial"/>
              </a:rPr>
              <a:t>•  שיקול הדעת להפחתה מוגבל ל"מקרים חריגים".</a:t>
            </a:r>
          </a:p>
          <a:p>
            <a:pPr rtl="1" algn="r">
              <a:spcAft>
                <a:spcPts val="300"/>
              </a:spcAft>
            </a:pPr>
            <a:r>
              <a:rPr sz="1500" b="1" i="0">
                <a:solidFill>
                  <a:srgbClr val="E9B949"/>
                </a:solidFill>
                <a:latin typeface="Arial"/>
              </a:rPr>
              <a:t>מסקנה הוגנת: </a:t>
            </a:r>
            <a:r>
              <a:rPr sz="1500" b="0" i="0">
                <a:solidFill>
                  <a:srgbClr val="EEF2F7"/>
                </a:solidFill>
                <a:latin typeface="Arial"/>
              </a:rPr>
              <a:t>השכר הגבוה עוקב אחר התעריף החוקי. לא נמצאה קביעה של גביית-יתר/כפל/"שכר מאמץ". מסגרת ה"בכל מחיר" אינה מבוססת בפסיקה.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8686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rtl="1" algn="r"/>
            <a:r>
              <a:rPr sz="2600" b="1" i="0">
                <a:solidFill>
                  <a:srgbClr val="FFFFFF"/>
                </a:solidFill>
                <a:latin typeface="Arial"/>
              </a:rPr>
              <a:t>אשכול נושאי: מכירה בחסר ופסיביות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78992"/>
            <a:ext cx="11247120" cy="25400"/>
          </a:xfrm>
          <a:prstGeom prst="rect">
            <a:avLst/>
          </a:prstGeom>
          <a:solidFill>
            <a:srgbClr val="334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01400" cy="53035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rtl="1" algn="r">
              <a:spcAft>
                <a:spcPts val="300"/>
              </a:spcAft>
            </a:pPr>
            <a:r>
              <a:rPr sz="1500" b="1" i="0">
                <a:solidFill>
                  <a:srgbClr val="E9B949"/>
                </a:solidFill>
                <a:latin typeface="Arial"/>
              </a:rPr>
              <a:t>אלימלך: </a:t>
            </a:r>
            <a:r>
              <a:rPr sz="1500" b="0" i="0">
                <a:solidFill>
                  <a:srgbClr val="EEF2F7"/>
                </a:solidFill>
                <a:latin typeface="Arial"/>
              </a:rPr>
              <a:t>מכר ב-"60% ממחירה הנכון" → </a:t>
            </a:r>
            <a:r>
              <a:rPr sz="1500" b="0" i="0">
                <a:solidFill>
                  <a:srgbClr val="EF5B6B"/>
                </a:solidFill>
                <a:latin typeface="Arial"/>
              </a:rPr>
              <a:t>ההקלטה נפסלה; לא הוכרע</a:t>
            </a:r>
          </a:p>
          <a:p>
            <a:pPr rtl="1" algn="r">
              <a:spcAft>
                <a:spcPts val="300"/>
              </a:spcAft>
            </a:pPr>
            <a:r>
              <a:rPr sz="1500" b="1" i="0">
                <a:solidFill>
                  <a:srgbClr val="E9B949"/>
                </a:solidFill>
                <a:latin typeface="Arial"/>
              </a:rPr>
              <a:t>שדה: </a:t>
            </a:r>
            <a:r>
              <a:rPr sz="1500" b="0" i="0">
                <a:solidFill>
                  <a:srgbClr val="EEF2F7"/>
                </a:solidFill>
                <a:latin typeface="Arial"/>
              </a:rPr>
              <a:t>"ישב באפס מעשה ואף לא טרח לפרסם" → </a:t>
            </a:r>
            <a:r>
              <a:rPr sz="1500" b="0" i="0">
                <a:solidFill>
                  <a:srgbClr val="4DB5E0"/>
                </a:solidFill>
                <a:latin typeface="Arial"/>
              </a:rPr>
              <a:t>פשרה</a:t>
            </a:r>
          </a:p>
          <a:p>
            <a:pPr rtl="1" algn="r">
              <a:spcAft>
                <a:spcPts val="300"/>
              </a:spcAft>
            </a:pPr>
            <a:r>
              <a:rPr sz="1500" b="1" i="0">
                <a:solidFill>
                  <a:srgbClr val="E9B949"/>
                </a:solidFill>
                <a:latin typeface="Arial"/>
              </a:rPr>
              <a:t>בטיט ★: </a:t>
            </a:r>
            <a:r>
              <a:rPr sz="1500" b="0" i="0">
                <a:solidFill>
                  <a:srgbClr val="EEF2F7"/>
                </a:solidFill>
                <a:latin typeface="Arial"/>
              </a:rPr>
              <a:t>"לא עשה כל פעולה לקידום המכירה" → </a:t>
            </a:r>
            <a:r>
              <a:rPr sz="1500" b="0" i="0">
                <a:solidFill>
                  <a:srgbClr val="B07CF0"/>
                </a:solidFill>
                <a:latin typeface="Arial"/>
              </a:rPr>
              <a:t>ביקורת; הוחזר לדיון</a:t>
            </a:r>
          </a:p>
          <a:p>
            <a:pPr rtl="1" algn="r">
              <a:spcAft>
                <a:spcPts val="300"/>
              </a:spcAft>
            </a:pPr>
            <a:r>
              <a:rPr sz="1500" b="1" i="0">
                <a:solidFill>
                  <a:srgbClr val="E9B949"/>
                </a:solidFill>
                <a:latin typeface="Arial"/>
              </a:rPr>
              <a:t>פלח: </a:t>
            </a:r>
            <a:r>
              <a:rPr sz="1500" b="0" i="0">
                <a:solidFill>
                  <a:srgbClr val="EEF2F7"/>
                </a:solidFill>
                <a:latin typeface="Arial"/>
              </a:rPr>
              <a:t>השווי 6 מ' ₪ (לא 3.4) → </a:t>
            </a:r>
            <a:r>
              <a:rPr sz="1500" b="0" i="0">
                <a:solidFill>
                  <a:srgbClr val="EF5B6B"/>
                </a:solidFill>
                <a:latin typeface="Arial"/>
              </a:rPr>
              <a:t>נדחה — "נהפוך הוא"</a:t>
            </a:r>
          </a:p>
          <a:p>
            <a:pPr rtl="1" algn="r">
              <a:spcAft>
                <a:spcPts val="300"/>
              </a:spcAft>
            </a:pPr>
            <a:r>
              <a:rPr sz="1500" b="1" i="0">
                <a:solidFill>
                  <a:srgbClr val="E9B949"/>
                </a:solidFill>
                <a:latin typeface="Arial"/>
              </a:rPr>
              <a:t>דשתי: </a:t>
            </a:r>
            <a:r>
              <a:rPr sz="1500" b="0" i="0">
                <a:solidFill>
                  <a:srgbClr val="EEF2F7"/>
                </a:solidFill>
                <a:latin typeface="Arial"/>
              </a:rPr>
              <a:t>מכירת חצי-חלק בשווי תפוס נמוך → </a:t>
            </a:r>
            <a:r>
              <a:rPr sz="1500" b="0" i="0">
                <a:solidFill>
                  <a:srgbClr val="9FB0C3"/>
                </a:solidFill>
                <a:latin typeface="Arial"/>
              </a:rPr>
              <a:t>הכרעה חסומה</a:t>
            </a:r>
          </a:p>
          <a:p>
            <a:pPr rtl="1" algn="r">
              <a:spcAft>
                <a:spcPts val="300"/>
              </a:spcAft>
            </a:pPr>
            <a:r>
              <a:rPr sz="1500" b="1" i="0">
                <a:solidFill>
                  <a:srgbClr val="E9B949"/>
                </a:solidFill>
                <a:latin typeface="Arial"/>
              </a:rPr>
              <a:t>בונוביל: </a:t>
            </a:r>
            <a:r>
              <a:rPr sz="1500" b="0" i="0">
                <a:solidFill>
                  <a:srgbClr val="EEF2F7"/>
                </a:solidFill>
                <a:latin typeface="Arial"/>
              </a:rPr>
              <a:t>"תמורה פחותה במידה ניכרת" → </a:t>
            </a:r>
            <a:r>
              <a:rPr sz="1500" b="0" i="0">
                <a:solidFill>
                  <a:srgbClr val="EF5B6B"/>
                </a:solidFill>
                <a:latin typeface="Arial"/>
              </a:rPr>
              <a:t>לא הוכרע (זיהוי?)</a:t>
            </a:r>
          </a:p>
          <a:p>
            <a:pPr rtl="1" algn="r"/>
            <a:r>
              <a:rPr sz="600" b="0" i="0">
                <a:solidFill>
                  <a:srgbClr val="EEF2F7"/>
                </a:solidFill>
                <a:latin typeface="Arial"/>
              </a:rPr>
              <a:t> </a:t>
            </a:r>
          </a:p>
          <a:p>
            <a:pPr rtl="1" algn="r">
              <a:spcAft>
                <a:spcPts val="300"/>
              </a:spcAft>
            </a:pPr>
            <a:r>
              <a:rPr sz="1500" b="1" i="0">
                <a:solidFill>
                  <a:srgbClr val="E9B949"/>
                </a:solidFill>
                <a:latin typeface="Arial"/>
              </a:rPr>
              <a:t>הדפוס: </a:t>
            </a:r>
            <a:r>
              <a:rPr sz="1500" b="0" i="0">
                <a:solidFill>
                  <a:srgbClr val="EEF2F7"/>
                </a:solidFill>
                <a:latin typeface="Arial"/>
              </a:rPr>
              <a:t>"פסיביות + מכירה בחסר" היא ההאשמה החוזרת ביותר — אך בכל מקרה שהוכרע היא נדחתה/נפסלה. ביקורת שיפוטית יחידה: בטיט (2005).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8686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rtl="1" algn="r"/>
            <a:r>
              <a:rPr sz="2600" b="1" i="0">
                <a:solidFill>
                  <a:srgbClr val="FFFFFF"/>
                </a:solidFill>
                <a:latin typeface="Arial"/>
              </a:rPr>
              <a:t>אשכול נושאי: הסתרה / קנוניה / שקיפות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78992"/>
            <a:ext cx="11247120" cy="25400"/>
          </a:xfrm>
          <a:prstGeom prst="rect">
            <a:avLst/>
          </a:prstGeom>
          <a:solidFill>
            <a:srgbClr val="334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01400" cy="53035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rtl="1" algn="r">
              <a:spcAft>
                <a:spcPts val="300"/>
              </a:spcAft>
            </a:pPr>
            <a:r>
              <a:rPr sz="1500" b="1" i="0">
                <a:solidFill>
                  <a:srgbClr val="E9B949"/>
                </a:solidFill>
                <a:latin typeface="Arial"/>
              </a:rPr>
              <a:t>צרפתי: </a:t>
            </a:r>
            <a:r>
              <a:rPr sz="1500" b="0" i="0">
                <a:solidFill>
                  <a:srgbClr val="EEF2F7"/>
                </a:solidFill>
                <a:latin typeface="Arial"/>
              </a:rPr>
              <a:t>"מו"מ נסתר" + קנוניה → </a:t>
            </a:r>
            <a:r>
              <a:rPr sz="1500" b="0" i="0">
                <a:solidFill>
                  <a:srgbClr val="EF5B6B"/>
                </a:solidFill>
                <a:latin typeface="Arial"/>
              </a:rPr>
              <a:t>נדחה (סמכות/איחור)</a:t>
            </a:r>
          </a:p>
          <a:p>
            <a:pPr rtl="1" algn="r">
              <a:spcAft>
                <a:spcPts val="300"/>
              </a:spcAft>
            </a:pPr>
            <a:r>
              <a:rPr sz="1500" b="1" i="0">
                <a:solidFill>
                  <a:srgbClr val="E9B949"/>
                </a:solidFill>
                <a:latin typeface="Arial"/>
              </a:rPr>
              <a:t>פלח: </a:t>
            </a:r>
            <a:r>
              <a:rPr sz="1500" b="0" i="0">
                <a:solidFill>
                  <a:srgbClr val="EEF2F7"/>
                </a:solidFill>
                <a:latin typeface="Arial"/>
              </a:rPr>
              <a:t>"תרמית, מזימה, קנוניה"; הטעיית הרשם → </a:t>
            </a:r>
            <a:r>
              <a:rPr sz="1500" b="0" i="0">
                <a:solidFill>
                  <a:srgbClr val="EF5B6B"/>
                </a:solidFill>
                <a:latin typeface="Arial"/>
              </a:rPr>
              <a:t>"בעלמא"; "נהפוך הוא"</a:t>
            </a:r>
          </a:p>
          <a:p>
            <a:pPr rtl="1" algn="r">
              <a:spcAft>
                <a:spcPts val="300"/>
              </a:spcAft>
            </a:pPr>
            <a:r>
              <a:rPr sz="1500" b="1" i="0">
                <a:solidFill>
                  <a:srgbClr val="E9B949"/>
                </a:solidFill>
                <a:latin typeface="Arial"/>
              </a:rPr>
              <a:t>שדה: </a:t>
            </a:r>
            <a:r>
              <a:rPr sz="1500" b="0" i="0">
                <a:solidFill>
                  <a:srgbClr val="EEF2F7"/>
                </a:solidFill>
                <a:latin typeface="Arial"/>
              </a:rPr>
              <a:t>"מידע כוזב שנמסר לרשם" → </a:t>
            </a:r>
            <a:r>
              <a:rPr sz="1500" b="0" i="0">
                <a:solidFill>
                  <a:srgbClr val="4DB5E0"/>
                </a:solidFill>
                <a:latin typeface="Arial"/>
              </a:rPr>
              <a:t>פשרה (נדחה לגופו)</a:t>
            </a:r>
          </a:p>
          <a:p>
            <a:pPr rtl="1" algn="r">
              <a:spcAft>
                <a:spcPts val="300"/>
              </a:spcAft>
            </a:pPr>
            <a:r>
              <a:rPr sz="1500" b="1" i="0">
                <a:solidFill>
                  <a:srgbClr val="E9B949"/>
                </a:solidFill>
                <a:latin typeface="Arial"/>
              </a:rPr>
              <a:t>רפאל כהן: </a:t>
            </a:r>
            <a:r>
              <a:rPr sz="1500" b="0" i="0">
                <a:solidFill>
                  <a:srgbClr val="EEF2F7"/>
                </a:solidFill>
                <a:latin typeface="Arial"/>
              </a:rPr>
              <a:t>"לא דיווח לרשם" על ה-200,000 ₪ → </a:t>
            </a:r>
            <a:r>
              <a:rPr sz="1500" b="0" i="0">
                <a:solidFill>
                  <a:srgbClr val="EF5B6B"/>
                </a:solidFill>
                <a:latin typeface="Arial"/>
              </a:rPr>
              <a:t>נדחה — "פעל בשקיפות"</a:t>
            </a:r>
          </a:p>
          <a:p>
            <a:pPr rtl="1" algn="r">
              <a:spcAft>
                <a:spcPts val="300"/>
              </a:spcAft>
            </a:pPr>
            <a:r>
              <a:rPr sz="1500" b="1" i="0">
                <a:solidFill>
                  <a:srgbClr val="E9B949"/>
                </a:solidFill>
                <a:latin typeface="Arial"/>
              </a:rPr>
              <a:t>בונוביל: </a:t>
            </a:r>
            <a:r>
              <a:rPr sz="1500" b="0" i="0">
                <a:solidFill>
                  <a:srgbClr val="EEF2F7"/>
                </a:solidFill>
                <a:latin typeface="Arial"/>
              </a:rPr>
              <a:t>"התעלמות מטענות בעלות" → </a:t>
            </a:r>
            <a:r>
              <a:rPr sz="1500" b="0" i="0">
                <a:solidFill>
                  <a:srgbClr val="EF5B6B"/>
                </a:solidFill>
                <a:latin typeface="Arial"/>
              </a:rPr>
              <a:t>לא הוכרע</a:t>
            </a:r>
          </a:p>
          <a:p>
            <a:pPr rtl="1" algn="r"/>
            <a:r>
              <a:rPr sz="600" b="0" i="0">
                <a:solidFill>
                  <a:srgbClr val="EEF2F7"/>
                </a:solidFill>
                <a:latin typeface="Arial"/>
              </a:rPr>
              <a:t> </a:t>
            </a:r>
          </a:p>
          <a:p>
            <a:pPr rtl="1" algn="r">
              <a:spcAft>
                <a:spcPts val="300"/>
              </a:spcAft>
            </a:pPr>
            <a:r>
              <a:rPr sz="1500" b="1" i="0">
                <a:solidFill>
                  <a:srgbClr val="E9B949"/>
                </a:solidFill>
                <a:latin typeface="Arial"/>
              </a:rPr>
              <a:t>הממצא החזק ביותר נגד התזה: </a:t>
            </a:r>
            <a:r>
              <a:rPr sz="1500" b="0" i="0">
                <a:solidFill>
                  <a:srgbClr val="EEF2F7"/>
                </a:solidFill>
                <a:latin typeface="Arial"/>
              </a:rPr>
              <a:t>בתיק רפאל כהן (2024) ביהמ"ש קבע אקטיבית ש"הכונס פעל בשקיפות... ופעל בהתאם להחלטות רשם ההוצל"פ" — היפך הטענה.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8686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rtl="1" algn="r"/>
            <a:r>
              <a:rPr sz="2600" b="1" i="0">
                <a:solidFill>
                  <a:srgbClr val="FFFFFF"/>
                </a:solidFill>
                <a:latin typeface="Arial"/>
              </a:rPr>
              <a:t>★ אשכול נושאי: סעיפים שהוא ניסח (ערפול)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78992"/>
            <a:ext cx="11247120" cy="25400"/>
          </a:xfrm>
          <a:prstGeom prst="rect">
            <a:avLst/>
          </a:prstGeom>
          <a:solidFill>
            <a:srgbClr val="334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01400" cy="53035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rtl="1" algn="r">
              <a:spcAft>
                <a:spcPts val="300"/>
              </a:spcAft>
            </a:pPr>
            <a:r>
              <a:rPr sz="1500" b="0" i="0">
                <a:solidFill>
                  <a:srgbClr val="EEF2F7"/>
                </a:solidFill>
                <a:latin typeface="Arial"/>
              </a:rPr>
              <a:t>"בעיות בסעיפים שהוא כתב" — שני מקרים שבהם המחלוקת נסבה על נוסח שדרור עצמו ניסח:</a:t>
            </a:r>
          </a:p>
          <a:p>
            <a:pPr rtl="1" algn="r">
              <a:spcBef>
                <a:spcPts val="800"/>
              </a:spcBef>
              <a:spcAft>
                <a:spcPts val="200"/>
              </a:spcAft>
            </a:pPr>
            <a:r>
              <a:rPr sz="1700" b="1" i="0">
                <a:solidFill>
                  <a:srgbClr val="E9B949"/>
                </a:solidFill>
                <a:latin typeface="Arial"/>
              </a:rPr>
              <a:t>ריף — סעיף "בלאי סביר"</a:t>
            </a:r>
          </a:p>
          <a:p>
            <a:pPr rtl="1" algn="r">
              <a:spcAft>
                <a:spcPts val="300"/>
              </a:spcAft>
            </a:pPr>
            <a:r>
              <a:rPr sz="1500" b="0" i="0">
                <a:solidFill>
                  <a:srgbClr val="EEF2F7"/>
                </a:solidFill>
                <a:latin typeface="Arial"/>
              </a:rPr>
              <a:t>הכונס "התחייב בהסכם המכר למסור את הבית רק עם בלאי סביר". הרוכש: נמסר עם "הזנחה מכוונת ואף השחתה". → 79א: השיב 70,000 ₪ (ללא הנמקה).</a:t>
            </a:r>
          </a:p>
          <a:p>
            <a:pPr rtl="1" algn="r">
              <a:spcBef>
                <a:spcPts val="800"/>
              </a:spcBef>
              <a:spcAft>
                <a:spcPts val="200"/>
              </a:spcAft>
            </a:pPr>
            <a:r>
              <a:rPr sz="1700" b="1" i="0">
                <a:solidFill>
                  <a:srgbClr val="E9B949"/>
                </a:solidFill>
                <a:latin typeface="Arial"/>
              </a:rPr>
              <a:t>רפאל כהן — מכתב "על ידך ככונס"</a:t>
            </a:r>
          </a:p>
          <a:p>
            <a:pPr rtl="1" algn="r">
              <a:spcAft>
                <a:spcPts val="300"/>
              </a:spcAft>
            </a:pPr>
            <a:r>
              <a:rPr sz="1500" b="0" i="0">
                <a:solidFill>
                  <a:srgbClr val="EEF2F7"/>
                </a:solidFill>
                <a:latin typeface="Arial"/>
              </a:rPr>
              <a:t>המחלוקת נסבה על נוסח מכתב; דרור העיד "טעות סופר". ביהמ"ש קיבל את פרשנותו → נדחה לטובת דרור.</a:t>
            </a:r>
          </a:p>
          <a:p>
            <a:pPr rtl="1" algn="r">
              <a:spcBef>
                <a:spcPts val="800"/>
              </a:spcBef>
              <a:spcAft>
                <a:spcPts val="200"/>
              </a:spcAft>
            </a:pPr>
            <a:r>
              <a:rPr sz="1700" b="1" i="0">
                <a:solidFill>
                  <a:srgbClr val="E9B949"/>
                </a:solidFill>
                <a:latin typeface="Arial"/>
              </a:rPr>
              <a:t>מודעות "הזמנה להציע הצעות" (נוסח סטנדרטי)</a:t>
            </a:r>
          </a:p>
          <a:p>
            <a:pPr rtl="1" algn="r">
              <a:spcAft>
                <a:spcPts val="300"/>
              </a:spcAft>
            </a:pPr>
            <a:r>
              <a:rPr sz="1500" b="0" i="0">
                <a:solidFill>
                  <a:srgbClr val="EEF2F7"/>
                </a:solidFill>
                <a:latin typeface="Arial"/>
              </a:rPr>
              <a:t>כוללות "כפוף לאישור ראש ההוצל"פ", פיקדון 10%, מכר "AS IS". הערכה הוגנת: סעיפי "AS IS"/היעדר-מצג הם נוסח מקובל בענף — ביקורת אפשרית קיימת ברמת הטענה, אך אינה חריגה לדרור.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8686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rtl="1" algn="r"/>
            <a:r>
              <a:rPr sz="2600" b="1" i="0">
                <a:solidFill>
                  <a:srgbClr val="FFFFFF"/>
                </a:solidFill>
                <a:latin typeface="Arial"/>
              </a:rPr>
              <a:t>קמפיין "הבית בידנו" — האשמות הסברה  ［לא מאומת משפטית］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78992"/>
            <a:ext cx="11247120" cy="25400"/>
          </a:xfrm>
          <a:prstGeom prst="rect">
            <a:avLst/>
          </a:prstGeom>
          <a:solidFill>
            <a:srgbClr val="334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01400" cy="53035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rtl="1" algn="r">
              <a:spcAft>
                <a:spcPts val="300"/>
              </a:spcAft>
            </a:pPr>
            <a:r>
              <a:rPr sz="1500" b="0" i="0">
                <a:solidFill>
                  <a:srgbClr val="EEF2F7"/>
                </a:solidFill>
                <a:latin typeface="Arial"/>
              </a:rPr>
              <a:t>מהו: אתר/קמפיין זכויות-חייבים ("הבית בידנו / מגן רפאל") המכנה את פלח וגליקשטיין "קורבנות" של עו"ד דרור.</a:t>
            </a:r>
          </a:p>
          <a:p>
            <a:pPr rtl="1" algn="r">
              <a:spcBef>
                <a:spcPts val="800"/>
              </a:spcBef>
              <a:spcAft>
                <a:spcPts val="200"/>
              </a:spcAft>
            </a:pPr>
            <a:r>
              <a:rPr sz="1700" b="1" i="0">
                <a:solidFill>
                  <a:srgbClr val="E9B949"/>
                </a:solidFill>
                <a:latin typeface="Arial"/>
              </a:rPr>
              <a:t>ציטוט (חומר הסברה — לא קביעה)</a:t>
            </a:r>
          </a:p>
          <a:p>
            <a:pPr rtl="1" algn="r">
              <a:spcBef>
                <a:spcPts val="200"/>
              </a:spcBef>
              <a:spcAft>
                <a:spcPts val="400"/>
              </a:spcAft>
            </a:pPr>
            <a:r>
              <a:rPr sz="1400" b="0" i="1">
                <a:solidFill>
                  <a:srgbClr val="4DB5E0"/>
                </a:solidFill>
                <a:latin typeface="Arial"/>
              </a:rPr>
              <a:t>„ בנק לאומי מתעלל בחייבים... ועושה יד אחת עם... כונס הנכסים יוסי דרור וביחד הם גוזלים את נכסיהם של הקורבנות במרמה ומוכרים אותם למקורבים להם בעלות נמוכה. ”</a:t>
            </a:r>
          </a:p>
          <a:p>
            <a:pPr rtl="1" algn="r">
              <a:spcBef>
                <a:spcPts val="200"/>
              </a:spcBef>
              <a:spcAft>
                <a:spcPts val="400"/>
              </a:spcAft>
            </a:pPr>
            <a:r>
              <a:rPr sz="1400" b="0" i="1">
                <a:solidFill>
                  <a:srgbClr val="4DB5E0"/>
                </a:solidFill>
                <a:latin typeface="Arial"/>
              </a:rPr>
              <a:t>„ צפו בזיופי משכנתאות של עו"ד וכונס הנכסים יוסי דרור...; "מכרתי את הדירה ב-60% מהמחיר שלה". ”</a:t>
            </a:r>
          </a:p>
          <a:p>
            <a:pPr rtl="1" algn="r">
              <a:spcBef>
                <a:spcPts val="800"/>
              </a:spcBef>
              <a:spcAft>
                <a:spcPts val="200"/>
              </a:spcAft>
            </a:pPr>
            <a:r>
              <a:rPr sz="1700" b="1" i="0">
                <a:solidFill>
                  <a:srgbClr val="E9B949"/>
                </a:solidFill>
                <a:latin typeface="Arial"/>
              </a:rPr>
              <a:t>מעמד ראייתי</a:t>
            </a:r>
          </a:p>
          <a:p>
            <a:pPr rtl="1" algn="r">
              <a:spcAft>
                <a:spcPts val="300"/>
              </a:spcAft>
            </a:pPr>
            <a:r>
              <a:rPr sz="1500" b="0" i="0">
                <a:solidFill>
                  <a:srgbClr val="EEF2F7"/>
                </a:solidFill>
                <a:latin typeface="Arial"/>
              </a:rPr>
              <a:t>ההאשמות החמורות ביותר שאותרו — אך </a:t>
            </a:r>
            <a:r>
              <a:rPr sz="1500" b="1" i="0">
                <a:solidFill>
                  <a:srgbClr val="F0A92B"/>
                </a:solidFill>
                <a:latin typeface="Arial"/>
              </a:rPr>
              <a:t>חד-צדדיות, לא אומצו ע"י שום בית משפט</a:t>
            </a:r>
            <a:r>
              <a:rPr sz="1500" b="0" i="0">
                <a:solidFill>
                  <a:srgbClr val="EEF2F7"/>
                </a:solidFill>
                <a:latin typeface="Arial"/>
              </a:rPr>
              <a:t>. חלקן חופפות לטענות שכבר נדחו (פלח; ה-60% נפסל באלימלך). טענות הסברה בלתי-מוכחות — לא עובדות.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8686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rtl="1" algn="r"/>
            <a:r>
              <a:rPr sz="2600" b="1" i="0">
                <a:solidFill>
                  <a:srgbClr val="FFFFFF"/>
                </a:solidFill>
                <a:latin typeface="Arial"/>
              </a:rPr>
              <a:t>שאלת ה"שיטה" — תשובה הגונה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78992"/>
            <a:ext cx="11247120" cy="25400"/>
          </a:xfrm>
          <a:prstGeom prst="rect">
            <a:avLst/>
          </a:prstGeom>
          <a:solidFill>
            <a:srgbClr val="334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01400" cy="53035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rtl="1" algn="r">
              <a:spcBef>
                <a:spcPts val="800"/>
              </a:spcBef>
              <a:spcAft>
                <a:spcPts val="200"/>
              </a:spcAft>
            </a:pPr>
            <a:r>
              <a:rPr sz="1700" b="1" i="0">
                <a:solidFill>
                  <a:srgbClr val="E9B949"/>
                </a:solidFill>
                <a:latin typeface="Arial"/>
              </a:rPr>
              <a:t>מה כן חוזר על עצמו</a:t>
            </a:r>
          </a:p>
          <a:p>
            <a:pPr rtl="1" algn="r">
              <a:spcAft>
                <a:spcPts val="300"/>
              </a:spcAft>
            </a:pPr>
            <a:r>
              <a:rPr sz="1500" b="0" i="0">
                <a:solidFill>
                  <a:srgbClr val="EEF2F7"/>
                </a:solidFill>
                <a:latin typeface="Arial"/>
              </a:rPr>
              <a:t>•  דפוס האשמה זהה מצד חייבים שונים לאורך 20+ שנה:</a:t>
            </a:r>
          </a:p>
          <a:p>
            <a:pPr rtl="1" algn="r">
              <a:spcAft>
                <a:spcPts val="300"/>
              </a:spcAft>
            </a:pPr>
            <a:r>
              <a:rPr sz="1500" b="0" i="0">
                <a:solidFill>
                  <a:srgbClr val="EEF2F7"/>
                </a:solidFill>
                <a:latin typeface="Arial"/>
              </a:rPr>
              <a:t>•  פסיביות + מכירה בחסר (שדה, בטיט, אלימלך, פלח, בונוביל).</a:t>
            </a:r>
          </a:p>
          <a:p>
            <a:pPr rtl="1" algn="r">
              <a:spcAft>
                <a:spcPts val="300"/>
              </a:spcAft>
            </a:pPr>
            <a:r>
              <a:rPr sz="1500" b="0" i="0">
                <a:solidFill>
                  <a:srgbClr val="EEF2F7"/>
                </a:solidFill>
                <a:latin typeface="Arial"/>
              </a:rPr>
              <a:t>•  הסתרה / הטעיית הרשם (צרפתי, פלח, שדה, כהן).</a:t>
            </a:r>
          </a:p>
          <a:p>
            <a:pPr rtl="1" algn="r">
              <a:spcAft>
                <a:spcPts val="300"/>
              </a:spcAft>
            </a:pPr>
            <a:r>
              <a:rPr sz="1500" b="0" i="0">
                <a:solidFill>
                  <a:srgbClr val="EEF2F7"/>
                </a:solidFill>
                <a:latin typeface="Arial"/>
              </a:rPr>
              <a:t>•  ערפול בניסוח סעיפים (ריף, כהן); קמפיין הסברה.</a:t>
            </a:r>
          </a:p>
          <a:p>
            <a:pPr rtl="1" algn="r">
              <a:spcBef>
                <a:spcPts val="800"/>
              </a:spcBef>
              <a:spcAft>
                <a:spcPts val="200"/>
              </a:spcAft>
            </a:pPr>
            <a:r>
              <a:rPr sz="1700" b="1" i="0">
                <a:solidFill>
                  <a:srgbClr val="E9B949"/>
                </a:solidFill>
                <a:latin typeface="Arial"/>
              </a:rPr>
              <a:t>מה לא הוכח</a:t>
            </a:r>
          </a:p>
          <a:p>
            <a:pPr rtl="1" algn="r">
              <a:spcAft>
                <a:spcPts val="300"/>
              </a:spcAft>
            </a:pPr>
            <a:r>
              <a:rPr sz="1500" b="0" i="0">
                <a:solidFill>
                  <a:srgbClr val="EEF2F7"/>
                </a:solidFill>
                <a:latin typeface="Arial"/>
              </a:rPr>
              <a:t>•  בכל מקרה שהוכרע — הטענה נדחתה, הסתיימה בפשרה, או נפסלה.</a:t>
            </a:r>
          </a:p>
          <a:p>
            <a:pPr rtl="1" algn="r">
              <a:spcAft>
                <a:spcPts val="300"/>
              </a:spcAft>
            </a:pPr>
            <a:r>
              <a:rPr sz="1500" b="0" i="0">
                <a:solidFill>
                  <a:srgbClr val="EEF2F7"/>
                </a:solidFill>
                <a:latin typeface="Arial"/>
              </a:rPr>
              <a:t>•  ניסיון מפורש לבסס "עדות שיטה" (אלימלך) — נדחה כ"זיקה כה קלושה".</a:t>
            </a:r>
          </a:p>
          <a:p>
            <a:pPr rtl="1" algn="r">
              <a:spcAft>
                <a:spcPts val="300"/>
              </a:spcAft>
            </a:pPr>
            <a:r>
              <a:rPr sz="1500" b="0" i="0">
                <a:solidFill>
                  <a:srgbClr val="EEF2F7"/>
                </a:solidFill>
                <a:latin typeface="Arial"/>
              </a:rPr>
              <a:t>•  אין קביעה שיפוטית של מרמה/קנוניה/מכירה בחסר נגדו.</a:t>
            </a:r>
          </a:p>
          <a:p>
            <a:pPr rtl="1" algn="r">
              <a:spcAft>
                <a:spcPts val="300"/>
              </a:spcAft>
            </a:pPr>
            <a:r>
              <a:rPr sz="1500" b="1" i="0">
                <a:solidFill>
                  <a:srgbClr val="E9B949"/>
                </a:solidFill>
                <a:latin typeface="Arial"/>
              </a:rPr>
              <a:t>שורה תחתונה: </a:t>
            </a:r>
            <a:r>
              <a:rPr sz="1500" b="0" i="0">
                <a:solidFill>
                  <a:srgbClr val="EEF2F7"/>
                </a:solidFill>
                <a:latin typeface="Arial"/>
              </a:rPr>
              <a:t>קיים דפוס האשמות חוזר — אך אין דפוס שהוכח משפטית. ההבחנה הזו היא מה שהופך את העבודה לאמינה.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8686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rtl="1" algn="r"/>
            <a:r>
              <a:rPr sz="2600" b="1" i="0">
                <a:solidFill>
                  <a:srgbClr val="FFFFFF"/>
                </a:solidFill>
                <a:latin typeface="Arial"/>
              </a:rPr>
              <a:t>★ ריכוז: הערות שופטים / רמזים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78992"/>
            <a:ext cx="11247120" cy="25400"/>
          </a:xfrm>
          <a:prstGeom prst="rect">
            <a:avLst/>
          </a:prstGeom>
          <a:solidFill>
            <a:srgbClr val="334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01400" cy="53035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rtl="1" algn="r">
              <a:spcAft>
                <a:spcPts val="300"/>
              </a:spcAft>
            </a:pPr>
            <a:r>
              <a:rPr sz="1500" b="1" i="0">
                <a:solidFill>
                  <a:srgbClr val="E9B949"/>
                </a:solidFill>
                <a:latin typeface="Arial"/>
              </a:rPr>
              <a:t>בטיט (הנדל): </a:t>
            </a:r>
            <a:r>
              <a:rPr sz="1500" b="0" i="0">
                <a:solidFill>
                  <a:srgbClr val="EEF2F7"/>
                </a:solidFill>
                <a:latin typeface="Arial"/>
              </a:rPr>
              <a:t>"לא עשה כל פעולה"; "חוסר פעילות" בעלי משקל; שכר "אם בכלל" → </a:t>
            </a:r>
            <a:r>
              <a:rPr sz="1500" b="1" i="0">
                <a:solidFill>
                  <a:srgbClr val="B07CF0"/>
                </a:solidFill>
                <a:latin typeface="Arial"/>
              </a:rPr>
              <a:t>ביקורת ממשית</a:t>
            </a:r>
          </a:p>
          <a:p>
            <a:pPr rtl="1" algn="r">
              <a:spcAft>
                <a:spcPts val="300"/>
              </a:spcAft>
            </a:pPr>
            <a:r>
              <a:rPr sz="1500" b="1" i="0">
                <a:solidFill>
                  <a:srgbClr val="E9B949"/>
                </a:solidFill>
                <a:latin typeface="Arial"/>
              </a:rPr>
              <a:t>הניג (סובל): </a:t>
            </a:r>
            <a:r>
              <a:rPr sz="1500" b="0" i="0">
                <a:solidFill>
                  <a:srgbClr val="EEF2F7"/>
                </a:solidFill>
                <a:latin typeface="Arial"/>
              </a:rPr>
              <a:t>"שכרו... איננו נמוך"; נמנע מהוצאות לטובת דרור → </a:t>
            </a:r>
            <a:r>
              <a:rPr sz="1500" b="1" i="0">
                <a:solidFill>
                  <a:srgbClr val="B07CF0"/>
                </a:solidFill>
                <a:latin typeface="Arial"/>
              </a:rPr>
              <a:t>רמז עדין</a:t>
            </a:r>
          </a:p>
          <a:p>
            <a:pPr rtl="1" algn="r">
              <a:spcAft>
                <a:spcPts val="300"/>
              </a:spcAft>
            </a:pPr>
            <a:r>
              <a:rPr sz="1500" b="1" i="0">
                <a:solidFill>
                  <a:srgbClr val="E9B949"/>
                </a:solidFill>
                <a:latin typeface="Arial"/>
              </a:rPr>
              <a:t>שדה/ריף (לוי-יטח/מאירוביץ): </a:t>
            </a:r>
            <a:r>
              <a:rPr sz="1500" b="0" i="0">
                <a:solidFill>
                  <a:srgbClr val="EEF2F7"/>
                </a:solidFill>
                <a:latin typeface="Arial"/>
              </a:rPr>
              <a:t>דחיית בקשות הוצאות; ספק בעילה → </a:t>
            </a:r>
            <a:r>
              <a:rPr sz="1500" b="1" i="0">
                <a:solidFill>
                  <a:srgbClr val="B07CF0"/>
                </a:solidFill>
                <a:latin typeface="Arial"/>
              </a:rPr>
              <a:t>פרוצדורלי</a:t>
            </a:r>
          </a:p>
          <a:p>
            <a:pPr rtl="1" algn="r">
              <a:spcAft>
                <a:spcPts val="300"/>
              </a:spcAft>
            </a:pPr>
            <a:r>
              <a:rPr sz="1500" b="1" i="0">
                <a:solidFill>
                  <a:srgbClr val="E9B949"/>
                </a:solidFill>
                <a:latin typeface="Arial"/>
              </a:rPr>
              <a:t>ריף (נד"ב): </a:t>
            </a:r>
            <a:r>
              <a:rPr sz="1500" b="0" i="0">
                <a:solidFill>
                  <a:srgbClr val="EEF2F7"/>
                </a:solidFill>
                <a:latin typeface="Arial"/>
              </a:rPr>
              <a:t>חיוב להשיב 70,000 ₪ (79א, ללא הנמקה) → </a:t>
            </a:r>
            <a:r>
              <a:rPr sz="1500" b="1" i="0">
                <a:solidFill>
                  <a:srgbClr val="43C08A"/>
                </a:solidFill>
                <a:latin typeface="Arial"/>
              </a:rPr>
              <a:t>תוצאה כספית, לא אשם</a:t>
            </a:r>
          </a:p>
          <a:p>
            <a:pPr rtl="1" algn="r"/>
            <a:r>
              <a:rPr sz="600" b="0" i="0">
                <a:solidFill>
                  <a:srgbClr val="EEF2F7"/>
                </a:solidFill>
                <a:latin typeface="Arial"/>
              </a:rPr>
              <a:t> </a:t>
            </a:r>
          </a:p>
          <a:p>
            <a:pPr rtl="1" algn="r">
              <a:spcAft>
                <a:spcPts val="300"/>
              </a:spcAft>
            </a:pPr>
            <a:r>
              <a:rPr sz="1500" b="1" i="0">
                <a:solidFill>
                  <a:srgbClr val="E9B949"/>
                </a:solidFill>
                <a:latin typeface="Arial"/>
              </a:rPr>
              <a:t>היפוכו של דבר — הערות שזיכו אותו: </a:t>
            </a:r>
            <a:r>
              <a:rPr sz="1500" b="0" i="0">
                <a:solidFill>
                  <a:srgbClr val="EEF2F7"/>
                </a:solidFill>
                <a:latin typeface="Arial"/>
              </a:rPr>
              <a:t>עמית (פלח): "נהפוך הוא"; פינצ'וק-אלט (כהן): "הכונס פעל בשקיפות... אין בהן ממש". אלה הקביעות הישירות ביותר על התנהלותו — והן לטובתו.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8686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rtl="1" algn="r"/>
            <a:r>
              <a:rPr sz="2600" b="1" i="0">
                <a:solidFill>
                  <a:srgbClr val="FFFFFF"/>
                </a:solidFill>
                <a:latin typeface="Arial"/>
              </a:rPr>
              <a:t>ממצאים שליליים (חשובים לאיזון)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78992"/>
            <a:ext cx="11247120" cy="25400"/>
          </a:xfrm>
          <a:prstGeom prst="rect">
            <a:avLst/>
          </a:prstGeom>
          <a:solidFill>
            <a:srgbClr val="334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01400" cy="53035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rtl="1" algn="r">
              <a:spcAft>
                <a:spcPts val="300"/>
              </a:spcAft>
            </a:pPr>
            <a:r>
              <a:rPr sz="1500" b="1" i="0">
                <a:solidFill>
                  <a:srgbClr val="E9B949"/>
                </a:solidFill>
                <a:latin typeface="Arial"/>
              </a:rPr>
              <a:t>משמעת: </a:t>
            </a:r>
            <a:r>
              <a:rPr sz="1500" b="0" i="0">
                <a:solidFill>
                  <a:srgbClr val="EEF2F7"/>
                </a:solidFill>
                <a:latin typeface="Arial"/>
              </a:rPr>
              <a:t>לא נמצא הליך משמעתי/השעיה בלשכה (בחיפוש פתוח).</a:t>
            </a:r>
          </a:p>
          <a:p>
            <a:pPr rtl="1" algn="r">
              <a:spcAft>
                <a:spcPts val="300"/>
              </a:spcAft>
            </a:pPr>
            <a:r>
              <a:rPr sz="1500" b="1" i="0">
                <a:solidFill>
                  <a:srgbClr val="E9B949"/>
                </a:solidFill>
                <a:latin typeface="Arial"/>
              </a:rPr>
              <a:t>עיתונות: </a:t>
            </a:r>
            <a:r>
              <a:rPr sz="1500" b="0" i="0">
                <a:solidFill>
                  <a:srgbClr val="EEF2F7"/>
                </a:solidFill>
                <a:latin typeface="Arial"/>
              </a:rPr>
              <a:t>לא נמצא כיסוי/חקירה תקשורתית המזכירים אותו אישית.</a:t>
            </a:r>
          </a:p>
          <a:p>
            <a:pPr rtl="1" algn="r">
              <a:spcAft>
                <a:spcPts val="300"/>
              </a:spcAft>
            </a:pPr>
            <a:r>
              <a:rPr sz="1500" b="1" i="0">
                <a:solidFill>
                  <a:srgbClr val="E9B949"/>
                </a:solidFill>
                <a:latin typeface="Arial"/>
              </a:rPr>
              <a:t>תלונות צרכנים: </a:t>
            </a:r>
            <a:r>
              <a:rPr sz="1500" b="0" i="0">
                <a:solidFill>
                  <a:srgbClr val="EEF2F7"/>
                </a:solidFill>
                <a:latin typeface="Arial"/>
              </a:rPr>
              <a:t>לא נמצא בפורומים/ביקורות באינטרנט הגלוי.</a:t>
            </a:r>
          </a:p>
          <a:p>
            <a:pPr rtl="1" algn="r">
              <a:spcAft>
                <a:spcPts val="300"/>
              </a:spcAft>
            </a:pPr>
            <a:r>
              <a:rPr sz="1500" b="1" i="0">
                <a:solidFill>
                  <a:srgbClr val="E9B949"/>
                </a:solidFill>
                <a:latin typeface="Arial"/>
              </a:rPr>
              <a:t>התעמרות/חוסר רגישות: </a:t>
            </a:r>
            <a:r>
              <a:rPr sz="1500" b="0" i="0">
                <a:solidFill>
                  <a:srgbClr val="EEF2F7"/>
                </a:solidFill>
                <a:latin typeface="Arial"/>
              </a:rPr>
              <a:t>לא נמצא טענה או קביעה (סריקת 597 מזהים).</a:t>
            </a:r>
          </a:p>
          <a:p>
            <a:pPr rtl="1" algn="r"/>
            <a:r>
              <a:rPr sz="600" b="0" i="0">
                <a:solidFill>
                  <a:srgbClr val="EEF2F7"/>
                </a:solidFill>
                <a:latin typeface="Arial"/>
              </a:rPr>
              <a:t> </a:t>
            </a:r>
          </a:p>
          <a:p>
            <a:pPr rtl="1" algn="r">
              <a:spcAft>
                <a:spcPts val="300"/>
              </a:spcAft>
            </a:pPr>
            <a:r>
              <a:rPr sz="1500" b="0" i="0">
                <a:solidFill>
                  <a:srgbClr val="EEF2F7"/>
                </a:solidFill>
                <a:latin typeface="Arial"/>
              </a:rPr>
              <a:t>סייג: מאגר המשמעת הפנימי, קבוצות פייסבוק סגורות וביקורות גוגל אינם ניתנים לאינדוקס — ההיעדר הוא "באינטרנט הגלוי". (קמפיין "הבית בידנו" הוא היוצא מן הכלל — אך הסברה.)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8686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rtl="1" algn="r"/>
            <a:r>
              <a:rPr sz="2600" b="1" i="0">
                <a:solidFill>
                  <a:srgbClr val="FFFFFF"/>
                </a:solidFill>
                <a:latin typeface="Arial"/>
              </a:rPr>
              <a:t>השוואה ארצית — האם "מהגדולים"?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78992"/>
            <a:ext cx="11247120" cy="25400"/>
          </a:xfrm>
          <a:prstGeom prst="rect">
            <a:avLst/>
          </a:prstGeom>
          <a:solidFill>
            <a:srgbClr val="334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01400" cy="53035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rtl="1" algn="r">
              <a:spcBef>
                <a:spcPts val="800"/>
              </a:spcBef>
              <a:spcAft>
                <a:spcPts val="200"/>
              </a:spcAft>
            </a:pPr>
            <a:r>
              <a:rPr sz="1700" b="1" i="0">
                <a:solidFill>
                  <a:srgbClr val="E9B949"/>
                </a:solidFill>
                <a:latin typeface="Arial"/>
              </a:rPr>
              <a:t>הבעיה המבנית</a:t>
            </a:r>
          </a:p>
          <a:p>
            <a:pPr rtl="1" algn="r">
              <a:spcAft>
                <a:spcPts val="300"/>
              </a:spcAft>
            </a:pPr>
            <a:r>
              <a:rPr sz="1500" b="0" i="0">
                <a:solidFill>
                  <a:srgbClr val="EEF2F7"/>
                </a:solidFill>
                <a:latin typeface="Arial"/>
              </a:rPr>
              <a:t>אין בישראל שום מאגר ציבורי שמדרג עו"ד לפי מספר מינויי כינוס. כל טענת "הכי הרבה" אינה ניתנת לאימות פומבי — לגבי כל אחד.</a:t>
            </a:r>
          </a:p>
          <a:p>
            <a:pPr rtl="1" algn="r">
              <a:spcBef>
                <a:spcPts val="800"/>
              </a:spcBef>
              <a:spcAft>
                <a:spcPts val="200"/>
              </a:spcAft>
            </a:pPr>
            <a:r>
              <a:rPr sz="1700" b="1" i="0">
                <a:solidFill>
                  <a:srgbClr val="E9B949"/>
                </a:solidFill>
                <a:latin typeface="Arial"/>
              </a:rPr>
              <a:t>איפה דרור</a:t>
            </a:r>
          </a:p>
          <a:p>
            <a:pPr rtl="1" algn="r">
              <a:spcAft>
                <a:spcPts val="300"/>
              </a:spcAft>
            </a:pPr>
            <a:r>
              <a:rPr sz="1500" b="0" i="0">
                <a:solidFill>
                  <a:srgbClr val="EEF2F7"/>
                </a:solidFill>
                <a:latin typeface="Arial"/>
              </a:rPr>
              <a:t>•  כונס פאנל בנקאי פעיל ומבוסס (לאומי-משכנתאות) — 25+ שנים.</a:t>
            </a:r>
          </a:p>
          <a:p>
            <a:pPr rtl="1" algn="r">
              <a:spcAft>
                <a:spcPts val="300"/>
              </a:spcAft>
            </a:pPr>
            <a:r>
              <a:rPr sz="1500" b="0" i="0">
                <a:solidFill>
                  <a:srgbClr val="EEF2F7"/>
                </a:solidFill>
                <a:latin typeface="Arial"/>
              </a:rPr>
              <a:t>•  אינו מופיע באף דירוג עצמאי (Dun's 100 / BDI) או כתבה.</a:t>
            </a:r>
          </a:p>
          <a:p>
            <a:pPr rtl="1" algn="r">
              <a:spcAft>
                <a:spcPts val="300"/>
              </a:spcAft>
            </a:pPr>
            <a:r>
              <a:rPr sz="1500" b="0" i="0">
                <a:solidFill>
                  <a:srgbClr val="EEF2F7"/>
                </a:solidFill>
                <a:latin typeface="Arial"/>
              </a:rPr>
              <a:t>•  משרד שילנסקי (שאליו השתייך) — מהמובילים בגבייה.</a:t>
            </a:r>
          </a:p>
          <a:p>
            <a:pPr rtl="1" algn="r">
              <a:spcAft>
                <a:spcPts val="300"/>
              </a:spcAft>
            </a:pPr>
            <a:r>
              <a:rPr sz="1500" b="1" i="0">
                <a:solidFill>
                  <a:srgbClr val="E9B949"/>
                </a:solidFill>
                <a:latin typeface="Arial"/>
              </a:rPr>
              <a:t>הערכה: </a:t>
            </a:r>
            <a:r>
              <a:rPr sz="1500" b="0" i="0">
                <a:solidFill>
                  <a:srgbClr val="EEF2F7"/>
                </a:solidFill>
                <a:latin typeface="Arial"/>
              </a:rPr>
              <a:t>סביר שצבר מספר מינויים גבוה (ערוץ עתיר-נפח), אך הראיות הפומביות אינן מציבות אותו בצמרת הארצית הנקובה-בשם. "מובילות" מופיעה רק בחומרי השיווק.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8686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rtl="1" algn="r"/>
            <a:r>
              <a:rPr sz="2600" b="1" i="0">
                <a:solidFill>
                  <a:srgbClr val="FFFFFF"/>
                </a:solidFill>
                <a:latin typeface="Arial"/>
              </a:rPr>
              <a:t>מגבלות המחקר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78992"/>
            <a:ext cx="11247120" cy="25400"/>
          </a:xfrm>
          <a:prstGeom prst="rect">
            <a:avLst/>
          </a:prstGeom>
          <a:solidFill>
            <a:srgbClr val="334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01400" cy="53035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rtl="1" algn="r">
              <a:spcAft>
                <a:spcPts val="300"/>
              </a:spcAft>
            </a:pPr>
            <a:r>
              <a:rPr sz="1500" b="0" i="0">
                <a:solidFill>
                  <a:srgbClr val="EEF2F7"/>
                </a:solidFill>
                <a:latin typeface="Arial"/>
              </a:rPr>
              <a:t>•  מאגרים חסומים/בתשלום: נבו, תקדין מלא, נט-המשפט, אתר העליון (WAF), רשומות, israelbar (מספר רישיון).</a:t>
            </a:r>
          </a:p>
          <a:p>
            <a:pPr rtl="1" algn="r">
              <a:spcAft>
                <a:spcPts val="300"/>
              </a:spcAft>
            </a:pPr>
            <a:r>
              <a:rPr sz="1500" b="0" i="0">
                <a:solidFill>
                  <a:srgbClr val="EEF2F7"/>
                </a:solidFill>
                <a:latin typeface="Arial"/>
              </a:rPr>
              <a:t>•  עמוד ראשון בלבד ב-API החופשי — חלק מההכרעות שוחזרו מציטוטים, חלק נותרו לא מאומתים מילולית.</a:t>
            </a:r>
          </a:p>
          <a:p>
            <a:pPr rtl="1" algn="r">
              <a:spcAft>
                <a:spcPts val="300"/>
              </a:spcAft>
            </a:pPr>
            <a:r>
              <a:rPr sz="1500" b="0" i="0">
                <a:solidFill>
                  <a:srgbClr val="EEF2F7"/>
                </a:solidFill>
                <a:latin typeface="Arial"/>
              </a:rPr>
              <a:t>•  פערים מהותיים: בן טובים (1708/19) טקסט מלא חסום; דשתי הכרעה סופית חסומה; פלח 6885/14 הנמקה חסומה; קרלינסקי (ריף) לא מאונדקס.</a:t>
            </a:r>
          </a:p>
          <a:p>
            <a:pPr rtl="1" algn="r">
              <a:spcAft>
                <a:spcPts val="300"/>
              </a:spcAft>
            </a:pPr>
            <a:r>
              <a:rPr sz="1500" b="0" i="0">
                <a:solidFill>
                  <a:srgbClr val="EEF2F7"/>
                </a:solidFill>
                <a:latin typeface="Arial"/>
              </a:rPr>
              <a:t>•  ספק זיהוי: בונוביל (בנק הבינלאומי) ותיקי אילת (ב"כ עירייה).</a:t>
            </a:r>
          </a:p>
          <a:p>
            <a:pPr rtl="1" algn="r">
              <a:spcAft>
                <a:spcPts val="300"/>
              </a:spcAft>
            </a:pPr>
            <a:r>
              <a:rPr sz="1500" b="0" i="0">
                <a:solidFill>
                  <a:srgbClr val="EEF2F7"/>
                </a:solidFill>
                <a:latin typeface="Arial"/>
              </a:rPr>
              <a:t>•  צווי המינוי הסרוקים — תמונות ללא טקסט; מספרי תיקי הוצל"פ דורשים OCR.</a:t>
            </a:r>
          </a:p>
          <a:p>
            <a:pPr rtl="1" algn="r">
              <a:spcAft>
                <a:spcPts val="300"/>
              </a:spcAft>
            </a:pPr>
            <a:r>
              <a:rPr sz="1500" b="0" i="0">
                <a:solidFill>
                  <a:srgbClr val="EEF2F7"/>
                </a:solidFill>
                <a:latin typeface="Arial"/>
              </a:rPr>
              <a:t>להשלמה: משיכה בתשלום מנבו/תקדין (6885/14, 1708/19, 6143-10-21, 67667-01-22); פנייה ללשכה למספר רישיון; OCR לצווי המינוי.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8686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rtl="1" algn="r"/>
            <a:r>
              <a:rPr sz="2600" b="1" i="0">
                <a:solidFill>
                  <a:srgbClr val="FFFFFF"/>
                </a:solidFill>
                <a:latin typeface="Arial"/>
              </a:rPr>
              <a:t>שורה תחתונה — מאזנת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78992"/>
            <a:ext cx="11247120" cy="25400"/>
          </a:xfrm>
          <a:prstGeom prst="rect">
            <a:avLst/>
          </a:prstGeom>
          <a:solidFill>
            <a:srgbClr val="334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01400" cy="53035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rtl="1" algn="r"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~40 </a:t>
            </a:r>
            <a:r>
              <a:rPr sz="1500" b="0" i="0">
                <a:solidFill>
                  <a:srgbClr val="9FB0C3"/>
                </a:solidFill>
                <a:latin typeface="Arial"/>
              </a:rPr>
              <a:t>הליכים שנבדקו   •   </a:t>
            </a:r>
            <a:r>
              <a:rPr sz="1500" b="1" i="0">
                <a:solidFill>
                  <a:srgbClr val="EF5B6B"/>
                </a:solidFill>
                <a:latin typeface="Arial"/>
              </a:rPr>
              <a:t>0 </a:t>
            </a:r>
            <a:r>
              <a:rPr sz="1500" b="0" i="0">
                <a:solidFill>
                  <a:srgbClr val="9FB0C3"/>
                </a:solidFill>
                <a:latin typeface="Arial"/>
              </a:rPr>
              <a:t>קביעות של מרמה/חוסר תום לב נגדו   •   </a:t>
            </a:r>
            <a:r>
              <a:rPr sz="1500" b="1" i="0">
                <a:solidFill>
                  <a:srgbClr val="E9B949"/>
                </a:solidFill>
                <a:latin typeface="Arial"/>
              </a:rPr>
              <a:t>1 </a:t>
            </a:r>
            <a:r>
              <a:rPr sz="1500" b="0" i="0">
                <a:solidFill>
                  <a:srgbClr val="9FB0C3"/>
                </a:solidFill>
                <a:latin typeface="Arial"/>
              </a:rPr>
              <a:t>ביקורת שיפוטית ממשית (בטיט)</a:t>
            </a:r>
          </a:p>
          <a:p>
            <a:pPr rtl="1" algn="r">
              <a:spcAft>
                <a:spcPts val="300"/>
              </a:spcAft>
            </a:pPr>
            <a:r>
              <a:rPr sz="1500" b="0" i="0">
                <a:solidFill>
                  <a:srgbClr val="EEF2F7"/>
                </a:solidFill>
                <a:latin typeface="Arial"/>
              </a:rPr>
              <a:t>•  טענות חמורות הועלו — מרמה, קנוניה, מכירה בחסר, הסתרה, הפרת סעיפים — מצד חייבים/רוכשים/נושים וגם בקמפיין הסברה.</a:t>
            </a:r>
          </a:p>
          <a:p>
            <a:pPr rtl="1" algn="r">
              <a:spcAft>
                <a:spcPts val="300"/>
              </a:spcAft>
            </a:pPr>
            <a:r>
              <a:rPr sz="1500" b="0" i="0">
                <a:solidFill>
                  <a:srgbClr val="EEF2F7"/>
                </a:solidFill>
                <a:latin typeface="Arial"/>
              </a:rPr>
              <a:t>•  אך בכל פעם שביהמ"ש הכריע לגופו — הטענה נדחתה ("נהפוך הוא"; "פעל בשקיפות"), הסתיימה בפשרה (שדה), או נפסלה (אלימלך).</a:t>
            </a:r>
          </a:p>
          <a:p>
            <a:pPr rtl="1" algn="r">
              <a:spcAft>
                <a:spcPts val="300"/>
              </a:spcAft>
            </a:pPr>
            <a:r>
              <a:rPr sz="1500" b="0" i="0">
                <a:solidFill>
                  <a:srgbClr val="EEF2F7"/>
                </a:solidFill>
                <a:latin typeface="Arial"/>
              </a:rPr>
              <a:t>•  שני אירועים כספיים בלבד: ריף (79א, 70,000 ₪, ללא אשם); ודחיות הוצאות נקודתיות.</a:t>
            </a:r>
          </a:p>
          <a:p>
            <a:pPr rtl="1" algn="r">
              <a:spcAft>
                <a:spcPts val="300"/>
              </a:spcAft>
            </a:pPr>
            <a:r>
              <a:rPr sz="1500" b="0" i="0">
                <a:solidFill>
                  <a:srgbClr val="EEF2F7"/>
                </a:solidFill>
                <a:latin typeface="Arial"/>
              </a:rPr>
              <a:t>•  הביקורת השיפוטית היחידה: בטיט (2005) — חוסר פעילות ושכר; ורמז של סובל ש"השכר אינו נמוך".</a:t>
            </a:r>
          </a:p>
          <a:p>
            <a:pPr rtl="1" algn="r">
              <a:spcAft>
                <a:spcPts val="300"/>
              </a:spcAft>
            </a:pPr>
            <a:r>
              <a:rPr sz="1500" b="0" i="0">
                <a:solidFill>
                  <a:srgbClr val="EEF2F7"/>
                </a:solidFill>
                <a:latin typeface="Arial"/>
              </a:rPr>
              <a:t>•  אין רישום משמעתי, כיסוי עיתונאי, או ממצא של התעמרות.</a:t>
            </a:r>
          </a:p>
          <a:p>
            <a:pPr rtl="1" algn="r">
              <a:spcAft>
                <a:spcPts val="300"/>
              </a:spcAft>
            </a:pPr>
            <a:r>
              <a:rPr sz="1500" b="1" i="0">
                <a:solidFill>
                  <a:srgbClr val="E9B949"/>
                </a:solidFill>
                <a:latin typeface="Arial"/>
              </a:rPr>
              <a:t>המסקנה ההגונה: </a:t>
            </a:r>
            <a:r>
              <a:rPr sz="1500" b="0" i="0">
                <a:solidFill>
                  <a:srgbClr val="EEF2F7"/>
                </a:solidFill>
                <a:latin typeface="Arial"/>
              </a:rPr>
              <a:t>קיים דפוס האשמות חוזר — אך הוא נותר ברמת טענה; משפטית, התמונה הפומבית נקייה מקביעות אשם, למעט ביקורת חריצות אחת.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8686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rtl="1" algn="r"/>
            <a:r>
              <a:rPr sz="2600" b="1" i="0">
                <a:solidFill>
                  <a:srgbClr val="FFFFFF"/>
                </a:solidFill>
                <a:latin typeface="Arial"/>
              </a:rPr>
              <a:t>נספח — מקורות והסתייגות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78992"/>
            <a:ext cx="11247120" cy="25400"/>
          </a:xfrm>
          <a:prstGeom prst="rect">
            <a:avLst/>
          </a:prstGeom>
          <a:solidFill>
            <a:srgbClr val="334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01400" cy="53035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rtl="1" algn="r">
              <a:spcBef>
                <a:spcPts val="800"/>
              </a:spcBef>
              <a:spcAft>
                <a:spcPts val="200"/>
              </a:spcAft>
            </a:pPr>
            <a:r>
              <a:rPr sz="1700" b="1" i="0">
                <a:solidFill>
                  <a:srgbClr val="E9B949"/>
                </a:solidFill>
                <a:latin typeface="Arial"/>
              </a:rPr>
              <a:t>מקורות</a:t>
            </a:r>
          </a:p>
          <a:p>
            <a:pPr rtl="1" algn="r">
              <a:spcAft>
                <a:spcPts val="300"/>
              </a:spcAft>
            </a:pPr>
            <a:r>
              <a:rPr sz="1500" b="0" i="0">
                <a:solidFill>
                  <a:srgbClr val="EEF2F7"/>
                </a:solidFill>
                <a:latin typeface="Arial"/>
              </a:rPr>
              <a:t>פסיקה: ע"א 4162/04; בר"ע (ב"ש) 503/04, 545/03, 550/07; רע"א 5892/07, 8782/07, 130/12, 5774/12, 3710/14, 37/19, 1708/19; ע"א 6885/14, 6050/18, 31216-06-22; רע"צ 35333-06-16, 58936-09-16, 12657-12-17; ת"א 30628-08-18, 41505-07-18, 64400-01-22, 6143-10-21; ועוד.</a:t>
            </a:r>
          </a:p>
          <a:p>
            <a:pPr rtl="1" algn="r">
              <a:spcAft>
                <a:spcPts val="300"/>
              </a:spcAft>
            </a:pPr>
            <a:r>
              <a:rPr sz="1500" b="0" i="0">
                <a:solidFill>
                  <a:srgbClr val="EEF2F7"/>
                </a:solidFill>
                <a:latin typeface="Arial"/>
              </a:rPr>
              <a:t>זהות: yossidror.co.il; shilansky.co.il; מרשם החברות (ח.פ 514804871); מרשם לשכת עוה"ד; דפי זהב; Bidspirit.</a:t>
            </a:r>
          </a:p>
          <a:p>
            <a:pPr rtl="1" algn="r">
              <a:spcAft>
                <a:spcPts val="300"/>
              </a:spcAft>
            </a:pPr>
            <a:r>
              <a:rPr sz="1500" b="0" i="0">
                <a:solidFill>
                  <a:srgbClr val="EEF2F7"/>
                </a:solidFill>
                <a:latin typeface="Arial"/>
              </a:rPr>
              <a:t>הסברה: habait-beyadenu.co.il (חד-צדדי, לא מאומת). מתודה: API חופשי של תקדין-לייט; פרוקסי קריאה; חיפושי רשת.</a:t>
            </a:r>
          </a:p>
          <a:p>
            <a:pPr rtl="1" algn="r">
              <a:spcBef>
                <a:spcPts val="800"/>
              </a:spcBef>
              <a:spcAft>
                <a:spcPts val="200"/>
              </a:spcAft>
            </a:pPr>
            <a:r>
              <a:rPr sz="1700" b="1" i="0">
                <a:solidFill>
                  <a:srgbClr val="E9B949"/>
                </a:solidFill>
                <a:latin typeface="Arial"/>
              </a:rPr>
              <a:t>⚖️ הסתייגות</a:t>
            </a:r>
          </a:p>
          <a:p>
            <a:pPr rtl="1" algn="r">
              <a:spcAft>
                <a:spcPts val="300"/>
              </a:spcAft>
            </a:pPr>
            <a:r>
              <a:rPr sz="1500" b="0" i="0">
                <a:solidFill>
                  <a:srgbClr val="EEF2F7"/>
                </a:solidFill>
                <a:latin typeface="Arial"/>
              </a:rPr>
              <a:t>מצגת זו מרכזת מידע מהליכים פומביים לצורך מחקר, ומבחינה בין טענות (לא מוכחות) לקביעות שיפוטיות. אין בה כדי לקבוע אשם; טענות שנדחו/לא הוכרעו אינן ממצא נגד עו"ד דרור. לשימוש משפטי — לאמת כל פריט במקור המלא.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